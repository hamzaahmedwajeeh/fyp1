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62" r:id="rId3"/>
    <p:sldId id="258" r:id="rId4"/>
    <p:sldId id="274" r:id="rId5"/>
    <p:sldId id="276" r:id="rId6"/>
    <p:sldId id="277" r:id="rId7"/>
    <p:sldId id="278" r:id="rId8"/>
    <p:sldId id="279" r:id="rId9"/>
    <p:sldId id="280" r:id="rId10"/>
    <p:sldId id="261" r:id="rId11"/>
    <p:sldId id="275" r:id="rId12"/>
    <p:sldId id="264" r:id="rId13"/>
    <p:sldId id="273" r:id="rId14"/>
  </p:sldIdLst>
  <p:sldSz cx="18288000" cy="10287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Gautami" panose="020B0502040204020203" pitchFamily="34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22" autoAdjust="0"/>
  </p:normalViewPr>
  <p:slideViewPr>
    <p:cSldViewPr>
      <p:cViewPr>
        <p:scale>
          <a:sx n="40" d="100"/>
          <a:sy n="40" d="100"/>
        </p:scale>
        <p:origin x="1452" y="-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ABE361-2C73-49FA-965B-44715D389B0D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DECFFA-AD50-49FE-B7BC-7AFE364A3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08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ECFFA-AD50-49FE-B7BC-7AFE364A3B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23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09699">
                <a:alpha val="100000"/>
              </a:srgbClr>
            </a:gs>
            <a:gs pos="50000">
              <a:srgbClr val="113F57">
                <a:alpha val="100000"/>
              </a:srgbClr>
            </a:gs>
            <a:gs pos="100000">
              <a:srgbClr val="5ECB86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6837119" y="4510027"/>
            <a:ext cx="3784985" cy="1992963"/>
            <a:chOff x="0" y="0"/>
            <a:chExt cx="5046647" cy="2657283"/>
          </a:xfrm>
        </p:grpSpPr>
        <p:grpSp>
          <p:nvGrpSpPr>
            <p:cNvPr id="3" name="Group 3"/>
            <p:cNvGrpSpPr/>
            <p:nvPr/>
          </p:nvGrpSpPr>
          <p:grpSpPr>
            <a:xfrm>
              <a:off x="2966711" y="932663"/>
              <a:ext cx="487818" cy="487818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3805624" y="1115355"/>
              <a:ext cx="487818" cy="48781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132229" y="1908298"/>
              <a:ext cx="487818" cy="487818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2601327" y="121475"/>
              <a:ext cx="487818" cy="487818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19608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748125" y="609293"/>
              <a:ext cx="487818" cy="487818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869600" y="2152207"/>
              <a:ext cx="487818" cy="487818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76137" y="365384"/>
              <a:ext cx="487818" cy="487818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131626" y="1664389"/>
              <a:ext cx="487818" cy="487818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91522" y="2169466"/>
              <a:ext cx="487818" cy="487818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2845236" y="2149298"/>
              <a:ext cx="365384" cy="365384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681263" y="1420481"/>
              <a:ext cx="365384" cy="365384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>
                  <a:alpha val="2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113509" y="1341020"/>
              <a:ext cx="365384" cy="365384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66242" y="975635"/>
              <a:ext cx="365384" cy="365384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>
                  <a:alpha val="6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3766844" y="0"/>
              <a:ext cx="365384" cy="365384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0" y="1420481"/>
              <a:ext cx="487818" cy="487818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9144000" y="-1724159"/>
            <a:ext cx="8367478" cy="4322007"/>
            <a:chOff x="0" y="0"/>
            <a:chExt cx="11156638" cy="5762676"/>
          </a:xfrm>
        </p:grpSpPr>
        <p:grpSp>
          <p:nvGrpSpPr>
            <p:cNvPr id="49" name="Group 49"/>
            <p:cNvGrpSpPr/>
            <p:nvPr/>
          </p:nvGrpSpPr>
          <p:grpSpPr>
            <a:xfrm rot="-10800000">
              <a:off x="3505119" y="3127733"/>
              <a:ext cx="632572" cy="632572"/>
              <a:chOff x="0" y="0"/>
              <a:chExt cx="8128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 rot="-10800000">
              <a:off x="1658216" y="2284149"/>
              <a:ext cx="1073952" cy="1073952"/>
              <a:chOff x="0" y="0"/>
              <a:chExt cx="812800" cy="8128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 rot="-10800000">
              <a:off x="584263" y="844020"/>
              <a:ext cx="768382" cy="768382"/>
              <a:chOff x="0" y="0"/>
              <a:chExt cx="812800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6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 rot="-10800000">
              <a:off x="4309528" y="4472219"/>
              <a:ext cx="939181" cy="939181"/>
              <a:chOff x="0" y="0"/>
              <a:chExt cx="812800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19608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 rot="-10800000">
              <a:off x="6382950" y="3444019"/>
              <a:ext cx="1314974" cy="1314974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 rot="-10800000">
              <a:off x="5383481" y="190745"/>
              <a:ext cx="846684" cy="846684"/>
              <a:chOff x="0" y="0"/>
              <a:chExt cx="812800" cy="8128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 rot="-10800000">
              <a:off x="9033050" y="4700206"/>
              <a:ext cx="711194" cy="711194"/>
              <a:chOff x="0" y="0"/>
              <a:chExt cx="812800" cy="8128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 rot="-10800000">
              <a:off x="320590" y="4189094"/>
              <a:ext cx="566249" cy="566249"/>
              <a:chOff x="0" y="0"/>
              <a:chExt cx="812800" cy="81280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 rot="-10800000">
              <a:off x="7160948" y="1343913"/>
              <a:ext cx="536976" cy="536976"/>
              <a:chOff x="0" y="0"/>
              <a:chExt cx="812800" cy="8128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 rot="-10800000">
              <a:off x="8826071" y="0"/>
              <a:ext cx="844020" cy="844020"/>
              <a:chOff x="0" y="0"/>
              <a:chExt cx="812800" cy="8128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 rot="-10800000">
              <a:off x="3766173" y="1075425"/>
              <a:ext cx="371518" cy="371518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 rot="-10800000">
              <a:off x="0" y="2365764"/>
              <a:ext cx="320590" cy="320590"/>
              <a:chOff x="0" y="0"/>
              <a:chExt cx="812800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2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 rot="-10800000">
              <a:off x="5266638" y="2077193"/>
              <a:ext cx="577142" cy="577142"/>
              <a:chOff x="0" y="0"/>
              <a:chExt cx="812800" cy="8128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 rot="-10800000">
              <a:off x="8619091" y="3251742"/>
              <a:ext cx="413958" cy="413958"/>
              <a:chOff x="0" y="0"/>
              <a:chExt cx="812800" cy="8128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6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 rot="-10800000">
              <a:off x="2195192" y="5263837"/>
              <a:ext cx="498839" cy="498839"/>
              <a:chOff x="0" y="0"/>
              <a:chExt cx="812800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 rot="-10800000">
              <a:off x="10768144" y="532355"/>
              <a:ext cx="388494" cy="388494"/>
              <a:chOff x="0" y="0"/>
              <a:chExt cx="812800" cy="8128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 rot="-10800000">
              <a:off x="9561133" y="1880889"/>
              <a:ext cx="733280" cy="733280"/>
              <a:chOff x="0" y="0"/>
              <a:chExt cx="812800" cy="81280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</p:grpSp>
      <p:grpSp>
        <p:nvGrpSpPr>
          <p:cNvPr id="100" name="Group 100"/>
          <p:cNvGrpSpPr/>
          <p:nvPr/>
        </p:nvGrpSpPr>
        <p:grpSpPr>
          <a:xfrm>
            <a:off x="8025285" y="8413666"/>
            <a:ext cx="8367478" cy="4322007"/>
            <a:chOff x="0" y="0"/>
            <a:chExt cx="11156638" cy="5762676"/>
          </a:xfrm>
        </p:grpSpPr>
        <p:grpSp>
          <p:nvGrpSpPr>
            <p:cNvPr id="101" name="Group 101"/>
            <p:cNvGrpSpPr/>
            <p:nvPr/>
          </p:nvGrpSpPr>
          <p:grpSpPr>
            <a:xfrm rot="-10800000">
              <a:off x="3505119" y="3127733"/>
              <a:ext cx="632572" cy="632572"/>
              <a:chOff x="0" y="0"/>
              <a:chExt cx="812800" cy="812800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 rot="-10800000">
              <a:off x="1658216" y="2284149"/>
              <a:ext cx="1073952" cy="1073952"/>
              <a:chOff x="0" y="0"/>
              <a:chExt cx="812800" cy="812800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7" name="Group 107"/>
            <p:cNvGrpSpPr/>
            <p:nvPr/>
          </p:nvGrpSpPr>
          <p:grpSpPr>
            <a:xfrm rot="-10800000">
              <a:off x="584263" y="844020"/>
              <a:ext cx="768382" cy="768382"/>
              <a:chOff x="0" y="0"/>
              <a:chExt cx="812800" cy="812800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6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 rot="-10800000">
              <a:off x="4309528" y="4472219"/>
              <a:ext cx="939181" cy="939181"/>
              <a:chOff x="0" y="0"/>
              <a:chExt cx="812800" cy="812800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19608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2" name="TextBox 112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3" name="Group 113"/>
            <p:cNvGrpSpPr/>
            <p:nvPr/>
          </p:nvGrpSpPr>
          <p:grpSpPr>
            <a:xfrm rot="-10800000">
              <a:off x="6382950" y="3444019"/>
              <a:ext cx="1314974" cy="1314974"/>
              <a:chOff x="0" y="0"/>
              <a:chExt cx="812800" cy="812800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 rot="-10800000">
              <a:off x="5383481" y="190745"/>
              <a:ext cx="846684" cy="846684"/>
              <a:chOff x="0" y="0"/>
              <a:chExt cx="812800" cy="812800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 rot="-10800000">
              <a:off x="9033050" y="4700206"/>
              <a:ext cx="711194" cy="711194"/>
              <a:chOff x="0" y="0"/>
              <a:chExt cx="812800" cy="812800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 rot="-10800000">
              <a:off x="320590" y="4189094"/>
              <a:ext cx="566249" cy="566249"/>
              <a:chOff x="0" y="0"/>
              <a:chExt cx="812800" cy="812800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24" name="TextBox 124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25" name="Group 125"/>
            <p:cNvGrpSpPr/>
            <p:nvPr/>
          </p:nvGrpSpPr>
          <p:grpSpPr>
            <a:xfrm rot="-10800000">
              <a:off x="7160948" y="1343913"/>
              <a:ext cx="536976" cy="536976"/>
              <a:chOff x="0" y="0"/>
              <a:chExt cx="812800" cy="812800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27" name="TextBox 12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28" name="Group 128"/>
            <p:cNvGrpSpPr/>
            <p:nvPr/>
          </p:nvGrpSpPr>
          <p:grpSpPr>
            <a:xfrm rot="-10800000">
              <a:off x="8826071" y="0"/>
              <a:ext cx="844020" cy="844020"/>
              <a:chOff x="0" y="0"/>
              <a:chExt cx="812800" cy="812800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30" name="TextBox 13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31" name="Group 131"/>
            <p:cNvGrpSpPr/>
            <p:nvPr/>
          </p:nvGrpSpPr>
          <p:grpSpPr>
            <a:xfrm rot="-10800000">
              <a:off x="3766173" y="1075425"/>
              <a:ext cx="371518" cy="371518"/>
              <a:chOff x="0" y="0"/>
              <a:chExt cx="812800" cy="812800"/>
            </a:xfrm>
          </p:grpSpPr>
          <p:sp>
            <p:nvSpPr>
              <p:cNvPr id="132" name="Freeform 1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33" name="TextBox 13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34" name="Group 134"/>
            <p:cNvGrpSpPr/>
            <p:nvPr/>
          </p:nvGrpSpPr>
          <p:grpSpPr>
            <a:xfrm rot="-10800000">
              <a:off x="0" y="2365764"/>
              <a:ext cx="320590" cy="320590"/>
              <a:chOff x="0" y="0"/>
              <a:chExt cx="812800" cy="812800"/>
            </a:xfrm>
          </p:grpSpPr>
          <p:sp>
            <p:nvSpPr>
              <p:cNvPr id="135" name="Freeform 1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2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36" name="TextBox 136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37" name="Group 137"/>
            <p:cNvGrpSpPr/>
            <p:nvPr/>
          </p:nvGrpSpPr>
          <p:grpSpPr>
            <a:xfrm rot="-10800000">
              <a:off x="5266638" y="2077193"/>
              <a:ext cx="577142" cy="577142"/>
              <a:chOff x="0" y="0"/>
              <a:chExt cx="812800" cy="812800"/>
            </a:xfrm>
          </p:grpSpPr>
          <p:sp>
            <p:nvSpPr>
              <p:cNvPr id="138" name="Freeform 1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39" name="TextBox 13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40" name="Group 140"/>
            <p:cNvGrpSpPr/>
            <p:nvPr/>
          </p:nvGrpSpPr>
          <p:grpSpPr>
            <a:xfrm rot="-10800000">
              <a:off x="8619091" y="3251742"/>
              <a:ext cx="413958" cy="413958"/>
              <a:chOff x="0" y="0"/>
              <a:chExt cx="812800" cy="812800"/>
            </a:xfrm>
          </p:grpSpPr>
          <p:sp>
            <p:nvSpPr>
              <p:cNvPr id="141" name="Freeform 1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6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42" name="TextBox 14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43" name="Group 143"/>
            <p:cNvGrpSpPr/>
            <p:nvPr/>
          </p:nvGrpSpPr>
          <p:grpSpPr>
            <a:xfrm rot="-10800000">
              <a:off x="2195192" y="5263837"/>
              <a:ext cx="498839" cy="498839"/>
              <a:chOff x="0" y="0"/>
              <a:chExt cx="812800" cy="812800"/>
            </a:xfrm>
          </p:grpSpPr>
          <p:sp>
            <p:nvSpPr>
              <p:cNvPr id="144" name="Freeform 1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45" name="TextBox 14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46" name="Group 146"/>
            <p:cNvGrpSpPr/>
            <p:nvPr/>
          </p:nvGrpSpPr>
          <p:grpSpPr>
            <a:xfrm rot="-10800000">
              <a:off x="10768144" y="532355"/>
              <a:ext cx="388494" cy="388494"/>
              <a:chOff x="0" y="0"/>
              <a:chExt cx="812800" cy="812800"/>
            </a:xfrm>
          </p:grpSpPr>
          <p:sp>
            <p:nvSpPr>
              <p:cNvPr id="147" name="Freeform 14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49" name="Group 149"/>
            <p:cNvGrpSpPr/>
            <p:nvPr/>
          </p:nvGrpSpPr>
          <p:grpSpPr>
            <a:xfrm rot="-10800000">
              <a:off x="9561133" y="1880889"/>
              <a:ext cx="733280" cy="733280"/>
              <a:chOff x="0" y="0"/>
              <a:chExt cx="812800" cy="812800"/>
            </a:xfrm>
          </p:grpSpPr>
          <p:sp>
            <p:nvSpPr>
              <p:cNvPr id="150" name="Freeform 1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51" name="TextBox 15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</p:grpSp>
      <p:sp>
        <p:nvSpPr>
          <p:cNvPr id="152" name="Freeform 152"/>
          <p:cNvSpPr/>
          <p:nvPr/>
        </p:nvSpPr>
        <p:spPr>
          <a:xfrm rot="-1745935">
            <a:off x="-12117604" y="-11791002"/>
            <a:ext cx="22429770" cy="23064031"/>
          </a:xfrm>
          <a:custGeom>
            <a:avLst/>
            <a:gdLst/>
            <a:ahLst/>
            <a:cxnLst/>
            <a:rect l="l" t="t" r="r" b="b"/>
            <a:pathLst>
              <a:path w="22429770" h="23064031">
                <a:moveTo>
                  <a:pt x="0" y="0"/>
                </a:moveTo>
                <a:lnTo>
                  <a:pt x="22429770" y="0"/>
                </a:lnTo>
                <a:lnTo>
                  <a:pt x="22429770" y="23064031"/>
                </a:lnTo>
                <a:lnTo>
                  <a:pt x="0" y="230640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Gautami" panose="020B0502040204020203" pitchFamily="34" charset="0"/>
              <a:cs typeface="Gautami" panose="020B0502040204020203" pitchFamily="34" charset="0"/>
            </a:endParaRPr>
          </a:p>
        </p:txBody>
      </p:sp>
      <p:sp>
        <p:nvSpPr>
          <p:cNvPr id="154" name="TextBox 154"/>
          <p:cNvSpPr txBox="1"/>
          <p:nvPr/>
        </p:nvSpPr>
        <p:spPr>
          <a:xfrm>
            <a:off x="1028700" y="2493645"/>
            <a:ext cx="11656879" cy="328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0"/>
              </a:lnSpc>
            </a:pPr>
            <a:r>
              <a:rPr lang="en-US" sz="14400" dirty="0">
                <a:solidFill>
                  <a:srgbClr val="FFFFFF"/>
                </a:solidFill>
                <a:latin typeface="Gautami" panose="020B0502040204020203" pitchFamily="34" charset="0"/>
                <a:cs typeface="Gautami" panose="020B0502040204020203" pitchFamily="34" charset="0"/>
              </a:rPr>
              <a:t>LIFELINE</a:t>
            </a:r>
          </a:p>
          <a:p>
            <a:pPr>
              <a:lnSpc>
                <a:spcPts val="14400"/>
              </a:lnSpc>
            </a:pPr>
            <a:endParaRPr lang="en-US" sz="1400" dirty="0">
              <a:solidFill>
                <a:srgbClr val="FFFFFF"/>
              </a:solidFill>
              <a:latin typeface="Gautami" panose="020B0502040204020203" pitchFamily="34" charset="0"/>
              <a:cs typeface="Gautami" panose="020B0502040204020203" pitchFamily="34" charset="0"/>
            </a:endParaRPr>
          </a:p>
        </p:txBody>
      </p:sp>
      <p:grpSp>
        <p:nvGrpSpPr>
          <p:cNvPr id="155" name="Group 155"/>
          <p:cNvGrpSpPr/>
          <p:nvPr/>
        </p:nvGrpSpPr>
        <p:grpSpPr>
          <a:xfrm>
            <a:off x="-2293122" y="-445627"/>
            <a:ext cx="3784985" cy="1992963"/>
            <a:chOff x="0" y="0"/>
            <a:chExt cx="5046647" cy="2657283"/>
          </a:xfrm>
        </p:grpSpPr>
        <p:grpSp>
          <p:nvGrpSpPr>
            <p:cNvPr id="156" name="Group 156"/>
            <p:cNvGrpSpPr/>
            <p:nvPr/>
          </p:nvGrpSpPr>
          <p:grpSpPr>
            <a:xfrm>
              <a:off x="2966711" y="932663"/>
              <a:ext cx="487818" cy="487818"/>
              <a:chOff x="0" y="0"/>
              <a:chExt cx="812800" cy="812800"/>
            </a:xfrm>
          </p:grpSpPr>
          <p:sp>
            <p:nvSpPr>
              <p:cNvPr id="157" name="Freeform 1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58" name="TextBox 15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59" name="Group 159"/>
            <p:cNvGrpSpPr/>
            <p:nvPr/>
          </p:nvGrpSpPr>
          <p:grpSpPr>
            <a:xfrm>
              <a:off x="4132229" y="1908298"/>
              <a:ext cx="487818" cy="487818"/>
              <a:chOff x="0" y="0"/>
              <a:chExt cx="812800" cy="812800"/>
            </a:xfrm>
          </p:grpSpPr>
          <p:sp>
            <p:nvSpPr>
              <p:cNvPr id="160" name="Freeform 1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61" name="TextBox 16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62" name="Group 162"/>
            <p:cNvGrpSpPr/>
            <p:nvPr/>
          </p:nvGrpSpPr>
          <p:grpSpPr>
            <a:xfrm>
              <a:off x="2601327" y="121475"/>
              <a:ext cx="487818" cy="487818"/>
              <a:chOff x="0" y="0"/>
              <a:chExt cx="812800" cy="812800"/>
            </a:xfrm>
          </p:grpSpPr>
          <p:sp>
            <p:nvSpPr>
              <p:cNvPr id="163" name="Freeform 1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19608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64" name="TextBox 164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65" name="Group 165"/>
            <p:cNvGrpSpPr/>
            <p:nvPr/>
          </p:nvGrpSpPr>
          <p:grpSpPr>
            <a:xfrm>
              <a:off x="1748125" y="609293"/>
              <a:ext cx="487818" cy="487818"/>
              <a:chOff x="0" y="0"/>
              <a:chExt cx="812800" cy="812800"/>
            </a:xfrm>
          </p:grpSpPr>
          <p:sp>
            <p:nvSpPr>
              <p:cNvPr id="166" name="Freeform 1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67" name="TextBox 16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68" name="Group 168"/>
            <p:cNvGrpSpPr/>
            <p:nvPr/>
          </p:nvGrpSpPr>
          <p:grpSpPr>
            <a:xfrm>
              <a:off x="1869600" y="2152207"/>
              <a:ext cx="487818" cy="487818"/>
              <a:chOff x="0" y="0"/>
              <a:chExt cx="812800" cy="812800"/>
            </a:xfrm>
          </p:grpSpPr>
          <p:sp>
            <p:nvSpPr>
              <p:cNvPr id="169" name="Freeform 16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70" name="TextBox 17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71" name="Group 171"/>
            <p:cNvGrpSpPr/>
            <p:nvPr/>
          </p:nvGrpSpPr>
          <p:grpSpPr>
            <a:xfrm>
              <a:off x="4376137" y="365384"/>
              <a:ext cx="487818" cy="487818"/>
              <a:chOff x="0" y="0"/>
              <a:chExt cx="812800" cy="812800"/>
            </a:xfrm>
          </p:grpSpPr>
          <p:sp>
            <p:nvSpPr>
              <p:cNvPr id="172" name="Freeform 17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73" name="TextBox 173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74" name="Group 174"/>
            <p:cNvGrpSpPr/>
            <p:nvPr/>
          </p:nvGrpSpPr>
          <p:grpSpPr>
            <a:xfrm>
              <a:off x="1131626" y="1664389"/>
              <a:ext cx="487818" cy="487818"/>
              <a:chOff x="0" y="0"/>
              <a:chExt cx="812800" cy="812800"/>
            </a:xfrm>
          </p:grpSpPr>
          <p:sp>
            <p:nvSpPr>
              <p:cNvPr id="175" name="Freeform 1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76" name="TextBox 17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77" name="Group 177"/>
            <p:cNvGrpSpPr/>
            <p:nvPr/>
          </p:nvGrpSpPr>
          <p:grpSpPr>
            <a:xfrm>
              <a:off x="391522" y="2169466"/>
              <a:ext cx="487818" cy="487818"/>
              <a:chOff x="0" y="0"/>
              <a:chExt cx="812800" cy="812800"/>
            </a:xfrm>
          </p:grpSpPr>
          <p:sp>
            <p:nvSpPr>
              <p:cNvPr id="178" name="Freeform 1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79" name="TextBox 17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80" name="Group 180"/>
            <p:cNvGrpSpPr/>
            <p:nvPr/>
          </p:nvGrpSpPr>
          <p:grpSpPr>
            <a:xfrm>
              <a:off x="2845236" y="2149298"/>
              <a:ext cx="365384" cy="365384"/>
              <a:chOff x="0" y="0"/>
              <a:chExt cx="812800" cy="812800"/>
            </a:xfrm>
          </p:grpSpPr>
          <p:sp>
            <p:nvSpPr>
              <p:cNvPr id="181" name="Freeform 1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82" name="TextBox 18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83" name="Group 183"/>
            <p:cNvGrpSpPr/>
            <p:nvPr/>
          </p:nvGrpSpPr>
          <p:grpSpPr>
            <a:xfrm>
              <a:off x="4681263" y="1420481"/>
              <a:ext cx="365384" cy="365384"/>
              <a:chOff x="0" y="0"/>
              <a:chExt cx="812800" cy="812800"/>
            </a:xfrm>
          </p:grpSpPr>
          <p:sp>
            <p:nvSpPr>
              <p:cNvPr id="184" name="Freeform 1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>
                  <a:alpha val="2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85" name="TextBox 18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86" name="Group 186"/>
            <p:cNvGrpSpPr/>
            <p:nvPr/>
          </p:nvGrpSpPr>
          <p:grpSpPr>
            <a:xfrm>
              <a:off x="2113509" y="1341020"/>
              <a:ext cx="365384" cy="365384"/>
              <a:chOff x="0" y="0"/>
              <a:chExt cx="812800" cy="81280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88" name="TextBox 18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89" name="Group 189"/>
            <p:cNvGrpSpPr/>
            <p:nvPr/>
          </p:nvGrpSpPr>
          <p:grpSpPr>
            <a:xfrm>
              <a:off x="766242" y="975635"/>
              <a:ext cx="365384" cy="365384"/>
              <a:chOff x="0" y="0"/>
              <a:chExt cx="812800" cy="812800"/>
            </a:xfrm>
          </p:grpSpPr>
          <p:sp>
            <p:nvSpPr>
              <p:cNvPr id="190" name="Freeform 1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>
                  <a:alpha val="6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91" name="TextBox 19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92" name="Group 192"/>
            <p:cNvGrpSpPr/>
            <p:nvPr/>
          </p:nvGrpSpPr>
          <p:grpSpPr>
            <a:xfrm>
              <a:off x="3766844" y="0"/>
              <a:ext cx="365384" cy="365384"/>
              <a:chOff x="0" y="0"/>
              <a:chExt cx="812800" cy="812800"/>
            </a:xfrm>
          </p:grpSpPr>
          <p:sp>
            <p:nvSpPr>
              <p:cNvPr id="193" name="Freeform 19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94" name="TextBox 19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95" name="Group 195"/>
            <p:cNvGrpSpPr/>
            <p:nvPr/>
          </p:nvGrpSpPr>
          <p:grpSpPr>
            <a:xfrm>
              <a:off x="0" y="1420481"/>
              <a:ext cx="487818" cy="487818"/>
              <a:chOff x="0" y="0"/>
              <a:chExt cx="812800" cy="812800"/>
            </a:xfrm>
          </p:grpSpPr>
          <p:sp>
            <p:nvSpPr>
              <p:cNvPr id="196" name="Freeform 19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97" name="TextBox 19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</p:grpSp>
      <p:sp>
        <p:nvSpPr>
          <p:cNvPr id="198" name="Rectangle 197"/>
          <p:cNvSpPr/>
          <p:nvPr/>
        </p:nvSpPr>
        <p:spPr>
          <a:xfrm>
            <a:off x="1028700" y="4395321"/>
            <a:ext cx="8994715" cy="1297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468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Gautami" panose="020B0502040204020203" pitchFamily="34" charset="0"/>
                <a:cs typeface="Gautami" pitchFamily="34" charset="0"/>
              </a:rPr>
              <a:t>In the heart of a hospital, every heartbeat echoes the resilience of life and the compassion of healing hands.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5330" y="6309035"/>
            <a:ext cx="9539070" cy="1131810"/>
            <a:chOff x="0" y="0"/>
            <a:chExt cx="5024695" cy="5961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4696" cy="596180"/>
            </a:xfrm>
            <a:custGeom>
              <a:avLst/>
              <a:gdLst/>
              <a:ahLst/>
              <a:cxnLst/>
              <a:rect l="l" t="t" r="r" b="b"/>
              <a:pathLst>
                <a:path w="5024696" h="596180">
                  <a:moveTo>
                    <a:pt x="41392" y="0"/>
                  </a:moveTo>
                  <a:lnTo>
                    <a:pt x="4983304" y="0"/>
                  </a:lnTo>
                  <a:cubicBezTo>
                    <a:pt x="4994282" y="0"/>
                    <a:pt x="5004810" y="4361"/>
                    <a:pt x="5012572" y="12123"/>
                  </a:cubicBezTo>
                  <a:cubicBezTo>
                    <a:pt x="5020335" y="19886"/>
                    <a:pt x="5024696" y="30414"/>
                    <a:pt x="5024696" y="41392"/>
                  </a:cubicBezTo>
                  <a:lnTo>
                    <a:pt x="5024696" y="554788"/>
                  </a:lnTo>
                  <a:cubicBezTo>
                    <a:pt x="5024696" y="577648"/>
                    <a:pt x="5006164" y="596180"/>
                    <a:pt x="4983304" y="596180"/>
                  </a:cubicBezTo>
                  <a:lnTo>
                    <a:pt x="41392" y="596180"/>
                  </a:lnTo>
                  <a:cubicBezTo>
                    <a:pt x="18532" y="596180"/>
                    <a:pt x="0" y="577648"/>
                    <a:pt x="0" y="554788"/>
                  </a:cubicBezTo>
                  <a:lnTo>
                    <a:pt x="0" y="41392"/>
                  </a:lnTo>
                  <a:cubicBezTo>
                    <a:pt x="0" y="18532"/>
                    <a:pt x="18532" y="0"/>
                    <a:pt x="413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09699">
                    <a:alpha val="100000"/>
                  </a:srgbClr>
                </a:gs>
                <a:gs pos="50000">
                  <a:srgbClr val="113F57">
                    <a:alpha val="100000"/>
                  </a:srgbClr>
                </a:gs>
                <a:gs pos="100000">
                  <a:srgbClr val="5ECB8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024695" cy="62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5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9144000" y="6309035"/>
            <a:ext cx="9144000" cy="2879125"/>
          </a:xfrm>
          <a:custGeom>
            <a:avLst/>
            <a:gdLst/>
            <a:ahLst/>
            <a:cxnLst/>
            <a:rect l="l" t="t" r="r" b="b"/>
            <a:pathLst>
              <a:path w="9144000" h="2879125">
                <a:moveTo>
                  <a:pt x="0" y="0"/>
                </a:moveTo>
                <a:lnTo>
                  <a:pt x="9144000" y="0"/>
                </a:lnTo>
                <a:lnTo>
                  <a:pt x="9144000" y="2879125"/>
                </a:lnTo>
                <a:lnTo>
                  <a:pt x="0" y="2879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1178" b="-60419"/>
            </a:stretch>
          </a:blipFill>
        </p:spPr>
        <p:txBody>
          <a:bodyPr/>
          <a:lstStyle/>
          <a:p>
            <a:endParaRPr lang="en-US">
              <a:latin typeface="Gautami" panose="020B0502040204020203" pitchFamily="34" charset="0"/>
              <a:cs typeface="Gautami" panose="020B0502040204020203" pitchFamily="34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14964" y="6534897"/>
            <a:ext cx="766479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Gautami" panose="020B0502040204020203" pitchFamily="34" charset="0"/>
                <a:cs typeface="Gautami" panose="020B0502040204020203" pitchFamily="34" charset="0"/>
              </a:rPr>
              <a:t>What We Do?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499616" y="2985370"/>
            <a:ext cx="9539070" cy="1131810"/>
            <a:chOff x="0" y="0"/>
            <a:chExt cx="5024695" cy="5961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24696" cy="596180"/>
            </a:xfrm>
            <a:custGeom>
              <a:avLst/>
              <a:gdLst/>
              <a:ahLst/>
              <a:cxnLst/>
              <a:rect l="l" t="t" r="r" b="b"/>
              <a:pathLst>
                <a:path w="5024696" h="596180">
                  <a:moveTo>
                    <a:pt x="41392" y="0"/>
                  </a:moveTo>
                  <a:lnTo>
                    <a:pt x="4983304" y="0"/>
                  </a:lnTo>
                  <a:cubicBezTo>
                    <a:pt x="4994282" y="0"/>
                    <a:pt x="5004810" y="4361"/>
                    <a:pt x="5012572" y="12123"/>
                  </a:cubicBezTo>
                  <a:cubicBezTo>
                    <a:pt x="5020335" y="19886"/>
                    <a:pt x="5024696" y="30414"/>
                    <a:pt x="5024696" y="41392"/>
                  </a:cubicBezTo>
                  <a:lnTo>
                    <a:pt x="5024696" y="554788"/>
                  </a:lnTo>
                  <a:cubicBezTo>
                    <a:pt x="5024696" y="577648"/>
                    <a:pt x="5006164" y="596180"/>
                    <a:pt x="4983304" y="596180"/>
                  </a:cubicBezTo>
                  <a:lnTo>
                    <a:pt x="41392" y="596180"/>
                  </a:lnTo>
                  <a:cubicBezTo>
                    <a:pt x="18532" y="596180"/>
                    <a:pt x="0" y="577648"/>
                    <a:pt x="0" y="554788"/>
                  </a:cubicBezTo>
                  <a:lnTo>
                    <a:pt x="0" y="41392"/>
                  </a:lnTo>
                  <a:cubicBezTo>
                    <a:pt x="0" y="18532"/>
                    <a:pt x="18532" y="0"/>
                    <a:pt x="413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09699">
                    <a:alpha val="100000"/>
                  </a:srgbClr>
                </a:gs>
                <a:gs pos="50000">
                  <a:srgbClr val="113F57">
                    <a:alpha val="100000"/>
                  </a:srgbClr>
                </a:gs>
                <a:gs pos="100000">
                  <a:srgbClr val="5ECB8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5024695" cy="62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5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2985370"/>
            <a:ext cx="9144000" cy="2879125"/>
          </a:xfrm>
          <a:custGeom>
            <a:avLst/>
            <a:gdLst/>
            <a:ahLst/>
            <a:cxnLst/>
            <a:rect l="l" t="t" r="r" b="b"/>
            <a:pathLst>
              <a:path w="9144000" h="2879125">
                <a:moveTo>
                  <a:pt x="0" y="0"/>
                </a:moveTo>
                <a:lnTo>
                  <a:pt x="9144000" y="0"/>
                </a:lnTo>
                <a:lnTo>
                  <a:pt x="9144000" y="2879125"/>
                </a:lnTo>
                <a:lnTo>
                  <a:pt x="0" y="2879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5076" b="-122758"/>
            </a:stretch>
          </a:blipFill>
        </p:spPr>
        <p:txBody>
          <a:bodyPr/>
          <a:lstStyle/>
          <a:p>
            <a:endParaRPr lang="en-US">
              <a:latin typeface="Gautami" panose="020B0502040204020203" pitchFamily="34" charset="0"/>
              <a:cs typeface="Gautami" panose="020B0502040204020203" pitchFamily="3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14964" y="1019175"/>
            <a:ext cx="10415036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559"/>
              </a:lnSpc>
              <a:spcBef>
                <a:spcPct val="0"/>
              </a:spcBef>
            </a:pPr>
            <a:r>
              <a:rPr lang="en-US" sz="8000" spc="-369" dirty="0">
                <a:solidFill>
                  <a:srgbClr val="FFFFFF"/>
                </a:solidFill>
                <a:latin typeface="Gautami" panose="020B0502040204020203" pitchFamily="34" charset="0"/>
                <a:cs typeface="Gautami" panose="020B0502040204020203" pitchFamily="34" charset="0"/>
              </a:rPr>
              <a:t>Introduction</a:t>
            </a:r>
            <a:endParaRPr lang="en-US" sz="8000" u="none" strike="noStrike" spc="-369" dirty="0">
              <a:solidFill>
                <a:srgbClr val="FFFFFF"/>
              </a:solidFill>
              <a:latin typeface="Gautami" panose="020B0502040204020203" pitchFamily="34" charset="0"/>
              <a:cs typeface="Gautami" panose="020B0502040204020203" pitchFamily="34" charset="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09650" y="3211233"/>
            <a:ext cx="766479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Gautami" panose="020B0502040204020203" pitchFamily="34" charset="0"/>
                <a:cs typeface="Gautami" panose="020B0502040204020203" pitchFamily="34" charset="0"/>
              </a:rPr>
              <a:t>Who Are We?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3387" y="4265965"/>
            <a:ext cx="7651061" cy="1130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8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"We are Lifeline, a dedicated team committed to revolutionizing healthcare through innovative technology solutions."</a:t>
            </a:r>
            <a:endParaRPr lang="en-US" sz="2400" dirty="0">
              <a:solidFill>
                <a:schemeClr val="bg1"/>
              </a:solidFill>
              <a:latin typeface="Gautami" panose="020B0502040204020203" pitchFamily="34" charset="0"/>
              <a:cs typeface="Gautami" panose="020B0502040204020203" pitchFamily="34" charset="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217811" y="7547493"/>
            <a:ext cx="7651061" cy="224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Gautami" panose="020B0502040204020203" pitchFamily="34" charset="0"/>
                <a:cs typeface="Gautami" panose="020B0502040204020203" pitchFamily="34" charset="0"/>
              </a:rPr>
              <a:t>"We leverage cutting-edge technology to create Lifeline, a comprehensive healthcare platform that facilitates seamless communication, centralizes medical records, and predicts future healthcare needs, enhancing the efficiency and accessibility of healthcare services."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-1060435" y="8640659"/>
            <a:ext cx="4150798" cy="2143989"/>
            <a:chOff x="0" y="0"/>
            <a:chExt cx="5534397" cy="2858651"/>
          </a:xfrm>
        </p:grpSpPr>
        <p:grpSp>
          <p:nvGrpSpPr>
            <p:cNvPr id="16" name="Group 16"/>
            <p:cNvGrpSpPr/>
            <p:nvPr/>
          </p:nvGrpSpPr>
          <p:grpSpPr>
            <a:xfrm rot="-10800000">
              <a:off x="1738760" y="1551553"/>
              <a:ext cx="313796" cy="313796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10800000">
              <a:off x="822580" y="1133082"/>
              <a:ext cx="532748" cy="532748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-10800000">
              <a:off x="289832" y="418687"/>
              <a:ext cx="381166" cy="381166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6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-10800000">
              <a:off x="2137798" y="2218503"/>
              <a:ext cx="465893" cy="465893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19608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-10800000">
              <a:off x="3166347" y="1708451"/>
              <a:ext cx="652310" cy="652310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-10800000">
              <a:off x="2670547" y="94622"/>
              <a:ext cx="420009" cy="420009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-10800000">
              <a:off x="4480963" y="2331599"/>
              <a:ext cx="352797" cy="352797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-10800000">
              <a:off x="159033" y="2078055"/>
              <a:ext cx="280896" cy="280896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-10800000">
              <a:off x="3552283" y="666666"/>
              <a:ext cx="266374" cy="266374"/>
              <a:chOff x="0" y="0"/>
              <a:chExt cx="812800" cy="8128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-10800000">
              <a:off x="4378289" y="0"/>
              <a:ext cx="418687" cy="418687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 rot="-10800000">
              <a:off x="1868260" y="533479"/>
              <a:ext cx="184296" cy="184296"/>
              <a:chOff x="0" y="0"/>
              <a:chExt cx="812800" cy="812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 rot="-10800000">
              <a:off x="0" y="1173568"/>
              <a:ext cx="159033" cy="159033"/>
              <a:chOff x="0" y="0"/>
              <a:chExt cx="8128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2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 rot="-10800000">
              <a:off x="2612585" y="1030419"/>
              <a:ext cx="286299" cy="286299"/>
              <a:chOff x="0" y="0"/>
              <a:chExt cx="812800" cy="8128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 rot="-10800000">
              <a:off x="4275614" y="1613069"/>
              <a:ext cx="205349" cy="205349"/>
              <a:chOff x="0" y="0"/>
              <a:chExt cx="812800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6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 rot="-10800000">
              <a:off x="1088954" y="2611196"/>
              <a:ext cx="247456" cy="247456"/>
              <a:chOff x="0" y="0"/>
              <a:chExt cx="812800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 rot="-10800000">
              <a:off x="5341680" y="264082"/>
              <a:ext cx="192718" cy="192718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 rot="-10800000">
              <a:off x="4742926" y="933040"/>
              <a:ext cx="363753" cy="363753"/>
              <a:chOff x="0" y="0"/>
              <a:chExt cx="812800" cy="8128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14181604" y="-714597"/>
            <a:ext cx="5441637" cy="2810739"/>
            <a:chOff x="0" y="0"/>
            <a:chExt cx="7255516" cy="3747651"/>
          </a:xfrm>
        </p:grpSpPr>
        <p:grpSp>
          <p:nvGrpSpPr>
            <p:cNvPr id="68" name="Group 68"/>
            <p:cNvGrpSpPr/>
            <p:nvPr/>
          </p:nvGrpSpPr>
          <p:grpSpPr>
            <a:xfrm rot="-10800000">
              <a:off x="2279490" y="2034064"/>
              <a:ext cx="411382" cy="411382"/>
              <a:chOff x="0" y="0"/>
              <a:chExt cx="812800" cy="8128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 rot="-10800000">
              <a:off x="1078390" y="1485455"/>
              <a:ext cx="698425" cy="698425"/>
              <a:chOff x="0" y="0"/>
              <a:chExt cx="812800" cy="8128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 rot="-10800000">
              <a:off x="379965" y="548893"/>
              <a:ext cx="499703" cy="499703"/>
              <a:chOff x="0" y="0"/>
              <a:chExt cx="812800" cy="81280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6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 rot="-10800000">
              <a:off x="2802623" y="2908426"/>
              <a:ext cx="610779" cy="610779"/>
              <a:chOff x="0" y="0"/>
              <a:chExt cx="812800" cy="8128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19608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 rot="-10800000">
              <a:off x="4151035" y="2239755"/>
              <a:ext cx="855170" cy="855170"/>
              <a:chOff x="0" y="0"/>
              <a:chExt cx="812800" cy="81280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 rot="-10800000">
              <a:off x="3501049" y="124048"/>
              <a:ext cx="550626" cy="550626"/>
              <a:chOff x="0" y="0"/>
              <a:chExt cx="812800" cy="8128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 rot="-10800000">
              <a:off x="5874480" y="3056693"/>
              <a:ext cx="462512" cy="462512"/>
              <a:chOff x="0" y="0"/>
              <a:chExt cx="812800" cy="81280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 rot="-10800000">
              <a:off x="208490" y="2724301"/>
              <a:ext cx="368250" cy="368250"/>
              <a:chOff x="0" y="0"/>
              <a:chExt cx="812800" cy="81280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 rot="-10800000">
              <a:off x="4656993" y="873990"/>
              <a:ext cx="349213" cy="349213"/>
              <a:chOff x="0" y="0"/>
              <a:chExt cx="812800" cy="812800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 rot="-10800000">
              <a:off x="5739874" y="0"/>
              <a:ext cx="548893" cy="548893"/>
              <a:chOff x="0" y="0"/>
              <a:chExt cx="812800" cy="812800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 rot="-10800000">
              <a:off x="2449262" y="699383"/>
              <a:ext cx="241610" cy="241610"/>
              <a:chOff x="0" y="0"/>
              <a:chExt cx="812800" cy="812800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1" name="Group 101"/>
            <p:cNvGrpSpPr/>
            <p:nvPr/>
          </p:nvGrpSpPr>
          <p:grpSpPr>
            <a:xfrm rot="-10800000">
              <a:off x="0" y="1538532"/>
              <a:ext cx="208490" cy="208490"/>
              <a:chOff x="0" y="0"/>
              <a:chExt cx="812800" cy="812800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2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 rot="-10800000">
              <a:off x="3425062" y="1350865"/>
              <a:ext cx="375334" cy="375334"/>
              <a:chOff x="0" y="0"/>
              <a:chExt cx="812800" cy="812800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7" name="Group 107"/>
            <p:cNvGrpSpPr/>
            <p:nvPr/>
          </p:nvGrpSpPr>
          <p:grpSpPr>
            <a:xfrm rot="-10800000">
              <a:off x="5605269" y="2114711"/>
              <a:ext cx="269210" cy="269210"/>
              <a:chOff x="0" y="0"/>
              <a:chExt cx="812800" cy="812800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6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 rot="-10800000">
              <a:off x="1427603" y="3423241"/>
              <a:ext cx="324411" cy="324411"/>
              <a:chOff x="0" y="0"/>
              <a:chExt cx="812800" cy="812800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2" name="TextBox 11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3" name="Group 113"/>
            <p:cNvGrpSpPr/>
            <p:nvPr/>
          </p:nvGrpSpPr>
          <p:grpSpPr>
            <a:xfrm rot="-10800000">
              <a:off x="7002866" y="346207"/>
              <a:ext cx="252650" cy="252650"/>
              <a:chOff x="0" y="0"/>
              <a:chExt cx="812800" cy="812800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 rot="-10800000">
              <a:off x="6217909" y="1223202"/>
              <a:ext cx="476875" cy="476875"/>
              <a:chOff x="0" y="0"/>
              <a:chExt cx="812800" cy="812800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890059" y="38100"/>
            <a:ext cx="6008279" cy="3103423"/>
            <a:chOff x="0" y="0"/>
            <a:chExt cx="8011039" cy="4137897"/>
          </a:xfrm>
        </p:grpSpPr>
        <p:grpSp>
          <p:nvGrpSpPr>
            <p:cNvPr id="6" name="Group 6"/>
            <p:cNvGrpSpPr/>
            <p:nvPr/>
          </p:nvGrpSpPr>
          <p:grpSpPr>
            <a:xfrm rot="-10800000">
              <a:off x="2516855" y="2245873"/>
              <a:ext cx="454219" cy="454219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-10800000">
              <a:off x="1190684" y="1640136"/>
              <a:ext cx="771153" cy="771153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-10800000">
              <a:off x="419531" y="606050"/>
              <a:ext cx="551737" cy="551737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6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10800000">
              <a:off x="3094463" y="3211283"/>
              <a:ext cx="674380" cy="674380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19608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10800000">
              <a:off x="4583286" y="2472983"/>
              <a:ext cx="944219" cy="944219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-10800000">
              <a:off x="3865615" y="136965"/>
              <a:ext cx="607963" cy="607963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10800000">
              <a:off x="6486193" y="3374989"/>
              <a:ext cx="510674" cy="510674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 rot="-10800000">
              <a:off x="230200" y="3007985"/>
              <a:ext cx="406596" cy="406596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-10800000">
              <a:off x="5141929" y="964999"/>
              <a:ext cx="385576" cy="385576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 rot="-10800000">
              <a:off x="6337572" y="0"/>
              <a:ext cx="606050" cy="606050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-10800000">
              <a:off x="2704306" y="772211"/>
              <a:ext cx="266769" cy="266769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-10800000">
              <a:off x="0" y="1698740"/>
              <a:ext cx="230200" cy="230200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2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-10800000">
              <a:off x="3781716" y="1491531"/>
              <a:ext cx="414417" cy="414417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-10800000">
              <a:off x="6188950" y="2334918"/>
              <a:ext cx="297243" cy="297243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6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-10800000">
              <a:off x="1576260" y="3779705"/>
              <a:ext cx="358192" cy="358192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-10800000">
              <a:off x="7732080" y="382258"/>
              <a:ext cx="278959" cy="278959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 rot="-10800000">
              <a:off x="6865384" y="1350575"/>
              <a:ext cx="526532" cy="526532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</p:grpSp>
      <p:sp>
        <p:nvSpPr>
          <p:cNvPr id="57" name="TextBox 57"/>
          <p:cNvSpPr txBox="1"/>
          <p:nvPr/>
        </p:nvSpPr>
        <p:spPr>
          <a:xfrm>
            <a:off x="890224" y="1028700"/>
            <a:ext cx="6589464" cy="135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0560"/>
              </a:lnSpc>
              <a:spcBef>
                <a:spcPct val="0"/>
              </a:spcBef>
            </a:pPr>
            <a:r>
              <a:rPr lang="en-US" sz="8800" spc="-369" dirty="0">
                <a:solidFill>
                  <a:srgbClr val="FFFFFF"/>
                </a:solidFill>
                <a:latin typeface="Gautami" panose="020B0502040204020203" pitchFamily="34" charset="0"/>
                <a:cs typeface="Gautami" panose="020B0502040204020203" pitchFamily="34" charset="0"/>
              </a:rPr>
              <a:t> Objectives 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609600" y="1978090"/>
            <a:ext cx="17393464" cy="4231900"/>
            <a:chOff x="0" y="-241101"/>
            <a:chExt cx="13220153" cy="2573318"/>
          </a:xfrm>
        </p:grpSpPr>
        <p:grpSp>
          <p:nvGrpSpPr>
            <p:cNvPr id="59" name="Group 59"/>
            <p:cNvGrpSpPr/>
            <p:nvPr/>
          </p:nvGrpSpPr>
          <p:grpSpPr>
            <a:xfrm>
              <a:off x="0" y="-241101"/>
              <a:ext cx="13220153" cy="2573318"/>
              <a:chOff x="0" y="-47625"/>
              <a:chExt cx="2611388" cy="50831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2611388" cy="460685"/>
              </a:xfrm>
              <a:custGeom>
                <a:avLst/>
                <a:gdLst/>
                <a:ahLst/>
                <a:cxnLst/>
                <a:rect l="l" t="t" r="r" b="b"/>
                <a:pathLst>
                  <a:path w="2611388" h="460685">
                    <a:moveTo>
                      <a:pt x="39822" y="0"/>
                    </a:moveTo>
                    <a:lnTo>
                      <a:pt x="2571566" y="0"/>
                    </a:lnTo>
                    <a:cubicBezTo>
                      <a:pt x="2582128" y="0"/>
                      <a:pt x="2592257" y="4196"/>
                      <a:pt x="2599725" y="11664"/>
                    </a:cubicBezTo>
                    <a:cubicBezTo>
                      <a:pt x="2607193" y="19132"/>
                      <a:pt x="2611388" y="29260"/>
                      <a:pt x="2611388" y="39822"/>
                    </a:cubicBezTo>
                    <a:lnTo>
                      <a:pt x="2611388" y="420863"/>
                    </a:lnTo>
                    <a:cubicBezTo>
                      <a:pt x="2611388" y="442856"/>
                      <a:pt x="2593560" y="460685"/>
                      <a:pt x="2571566" y="460685"/>
                    </a:cubicBezTo>
                    <a:lnTo>
                      <a:pt x="39822" y="460685"/>
                    </a:lnTo>
                    <a:cubicBezTo>
                      <a:pt x="29260" y="460685"/>
                      <a:pt x="19132" y="456489"/>
                      <a:pt x="11664" y="449021"/>
                    </a:cubicBezTo>
                    <a:cubicBezTo>
                      <a:pt x="4196" y="441553"/>
                      <a:pt x="0" y="431424"/>
                      <a:pt x="0" y="420863"/>
                    </a:cubicBezTo>
                    <a:lnTo>
                      <a:pt x="0" y="39822"/>
                    </a:lnTo>
                    <a:cubicBezTo>
                      <a:pt x="0" y="29260"/>
                      <a:pt x="4196" y="19132"/>
                      <a:pt x="11664" y="11664"/>
                    </a:cubicBezTo>
                    <a:cubicBezTo>
                      <a:pt x="19132" y="4196"/>
                      <a:pt x="29260" y="0"/>
                      <a:pt x="3982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09699">
                      <a:alpha val="100000"/>
                    </a:srgbClr>
                  </a:gs>
                  <a:gs pos="100000">
                    <a:srgbClr val="113F57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0" y="-47625"/>
                <a:ext cx="2611388" cy="5083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599825" y="370453"/>
              <a:ext cx="10491535" cy="3368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600" b="1" i="0" dirty="0">
                  <a:effectLst/>
                  <a:latin typeface="Gautami" panose="020B0502040204020203" pitchFamily="34" charset="0"/>
                  <a:cs typeface="Gautami" panose="020B0502040204020203" pitchFamily="34" charset="0"/>
                </a:rPr>
                <a:t>Problem Statements and Solutions: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9600" y="6970832"/>
            <a:ext cx="17405451" cy="2928445"/>
            <a:chOff x="0" y="0"/>
            <a:chExt cx="13220153" cy="2332217"/>
          </a:xfrm>
        </p:grpSpPr>
        <p:grpSp>
          <p:nvGrpSpPr>
            <p:cNvPr id="65" name="Group 65"/>
            <p:cNvGrpSpPr/>
            <p:nvPr/>
          </p:nvGrpSpPr>
          <p:grpSpPr>
            <a:xfrm>
              <a:off x="0" y="0"/>
              <a:ext cx="13220153" cy="2332217"/>
              <a:chOff x="0" y="0"/>
              <a:chExt cx="2611388" cy="46068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2611388" cy="460685"/>
              </a:xfrm>
              <a:custGeom>
                <a:avLst/>
                <a:gdLst/>
                <a:ahLst/>
                <a:cxnLst/>
                <a:rect l="l" t="t" r="r" b="b"/>
                <a:pathLst>
                  <a:path w="2611388" h="460685">
                    <a:moveTo>
                      <a:pt x="39822" y="0"/>
                    </a:moveTo>
                    <a:lnTo>
                      <a:pt x="2571566" y="0"/>
                    </a:lnTo>
                    <a:cubicBezTo>
                      <a:pt x="2582128" y="0"/>
                      <a:pt x="2592257" y="4196"/>
                      <a:pt x="2599725" y="11664"/>
                    </a:cubicBezTo>
                    <a:cubicBezTo>
                      <a:pt x="2607193" y="19132"/>
                      <a:pt x="2611388" y="29260"/>
                      <a:pt x="2611388" y="39822"/>
                    </a:cubicBezTo>
                    <a:lnTo>
                      <a:pt x="2611388" y="420863"/>
                    </a:lnTo>
                    <a:cubicBezTo>
                      <a:pt x="2611388" y="442856"/>
                      <a:pt x="2593560" y="460685"/>
                      <a:pt x="2571566" y="460685"/>
                    </a:cubicBezTo>
                    <a:lnTo>
                      <a:pt x="39822" y="460685"/>
                    </a:lnTo>
                    <a:cubicBezTo>
                      <a:pt x="29260" y="460685"/>
                      <a:pt x="19132" y="456489"/>
                      <a:pt x="11664" y="449021"/>
                    </a:cubicBezTo>
                    <a:cubicBezTo>
                      <a:pt x="4196" y="441553"/>
                      <a:pt x="0" y="431424"/>
                      <a:pt x="0" y="420863"/>
                    </a:cubicBezTo>
                    <a:lnTo>
                      <a:pt x="0" y="39822"/>
                    </a:lnTo>
                    <a:cubicBezTo>
                      <a:pt x="0" y="29260"/>
                      <a:pt x="4196" y="19132"/>
                      <a:pt x="11664" y="11664"/>
                    </a:cubicBezTo>
                    <a:cubicBezTo>
                      <a:pt x="19132" y="4196"/>
                      <a:pt x="29260" y="0"/>
                      <a:pt x="3982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09699">
                      <a:alpha val="100000"/>
                    </a:srgbClr>
                  </a:gs>
                  <a:gs pos="100000">
                    <a:srgbClr val="113F57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0" y="-47625"/>
                <a:ext cx="2611388" cy="5083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sp>
          <p:nvSpPr>
            <p:cNvPr id="68" name="TextBox 68"/>
            <p:cNvSpPr txBox="1"/>
            <p:nvPr/>
          </p:nvSpPr>
          <p:spPr>
            <a:xfrm>
              <a:off x="599825" y="370453"/>
              <a:ext cx="12603375" cy="4412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sz="3600" b="0" i="0" dirty="0">
                  <a:effectLst/>
                  <a:latin typeface="Gautami" panose="020B0502040204020203" pitchFamily="34" charset="0"/>
                  <a:cs typeface="Gautami" panose="020B0502040204020203" pitchFamily="34" charset="0"/>
                </a:rPr>
                <a:t>2) Centralized Database for Seamless Healthcare Continuity: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 rot="-10800000">
            <a:off x="16054513" y="8865045"/>
            <a:ext cx="4466974" cy="2352060"/>
            <a:chOff x="0" y="0"/>
            <a:chExt cx="5955966" cy="3136080"/>
          </a:xfrm>
        </p:grpSpPr>
        <p:grpSp>
          <p:nvGrpSpPr>
            <p:cNvPr id="77" name="Group 77"/>
            <p:cNvGrpSpPr/>
            <p:nvPr/>
          </p:nvGrpSpPr>
          <p:grpSpPr>
            <a:xfrm>
              <a:off x="3501261" y="1100713"/>
              <a:ext cx="575714" cy="575714"/>
              <a:chOff x="0" y="0"/>
              <a:chExt cx="812800" cy="8128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4491332" y="1316323"/>
              <a:ext cx="575714" cy="575714"/>
              <a:chOff x="0" y="0"/>
              <a:chExt cx="812800" cy="81280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4876785" y="2252141"/>
              <a:ext cx="575714" cy="575714"/>
              <a:chOff x="0" y="0"/>
              <a:chExt cx="812800" cy="8128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6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3070041" y="143363"/>
              <a:ext cx="575714" cy="575714"/>
              <a:chOff x="0" y="0"/>
              <a:chExt cx="812800" cy="81280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19608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2063107" y="719077"/>
              <a:ext cx="575714" cy="575714"/>
              <a:chOff x="0" y="0"/>
              <a:chExt cx="812800" cy="81280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>
              <a:off x="2206470" y="2539998"/>
              <a:ext cx="575714" cy="575714"/>
              <a:chOff x="0" y="0"/>
              <a:chExt cx="812800" cy="812800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>
              <a:off x="5164642" y="431220"/>
              <a:ext cx="575714" cy="575714"/>
              <a:chOff x="0" y="0"/>
              <a:chExt cx="812800" cy="812800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1335526" y="1964284"/>
              <a:ext cx="575714" cy="575714"/>
              <a:chOff x="0" y="0"/>
              <a:chExt cx="812800" cy="812800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1" name="Group 101"/>
            <p:cNvGrpSpPr/>
            <p:nvPr/>
          </p:nvGrpSpPr>
          <p:grpSpPr>
            <a:xfrm>
              <a:off x="462067" y="2560366"/>
              <a:ext cx="575714" cy="575714"/>
              <a:chOff x="0" y="0"/>
              <a:chExt cx="812800" cy="812800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3357898" y="2536564"/>
              <a:ext cx="431220" cy="431220"/>
              <a:chOff x="0" y="0"/>
              <a:chExt cx="812800" cy="812800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7" name="Group 107"/>
            <p:cNvGrpSpPr/>
            <p:nvPr/>
          </p:nvGrpSpPr>
          <p:grpSpPr>
            <a:xfrm>
              <a:off x="5524746" y="1676427"/>
              <a:ext cx="431220" cy="431220"/>
              <a:chOff x="0" y="0"/>
              <a:chExt cx="812800" cy="812800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2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2494327" y="1582648"/>
              <a:ext cx="431220" cy="431220"/>
              <a:chOff x="0" y="0"/>
              <a:chExt cx="812800" cy="812800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2" name="TextBox 11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3" name="Group 113"/>
            <p:cNvGrpSpPr/>
            <p:nvPr/>
          </p:nvGrpSpPr>
          <p:grpSpPr>
            <a:xfrm>
              <a:off x="904306" y="1151428"/>
              <a:ext cx="431220" cy="431220"/>
              <a:chOff x="0" y="0"/>
              <a:chExt cx="812800" cy="812800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6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>
              <a:off x="4445565" y="0"/>
              <a:ext cx="431220" cy="431220"/>
              <a:chOff x="0" y="0"/>
              <a:chExt cx="812800" cy="812800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0" y="1676427"/>
              <a:ext cx="575714" cy="575714"/>
              <a:chOff x="0" y="0"/>
              <a:chExt cx="812800" cy="812800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</p:grpSp>
      <p:sp>
        <p:nvSpPr>
          <p:cNvPr id="123" name="Rectangle 122"/>
          <p:cNvSpPr/>
          <p:nvPr/>
        </p:nvSpPr>
        <p:spPr>
          <a:xfrm>
            <a:off x="985092" y="3691556"/>
            <a:ext cx="1696719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2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1) Medical Chatbot for Personal Health Guidance: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Problem:</a:t>
            </a:r>
            <a:r>
              <a:rPr lang="en-US" sz="3200" b="0" i="0" dirty="0"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 </a:t>
            </a:r>
            <a:r>
              <a:rPr lang="en-US" sz="32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Dependency on elders for health guidance.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Solution:</a:t>
            </a:r>
            <a:r>
              <a:rPr lang="en-US" sz="3200" b="0" i="0" dirty="0"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 </a:t>
            </a:r>
            <a:r>
              <a:rPr lang="en-US" sz="32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Introduce personalized medical chatbots providing instant guidance, explanations, and insights on health issues.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399320" y="8013075"/>
            <a:ext cx="1469667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Problem</a:t>
            </a:r>
            <a:r>
              <a:rPr lang="en-US" sz="2800" b="1" i="0" dirty="0">
                <a:solidFill>
                  <a:srgbClr val="37415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:</a:t>
            </a:r>
            <a:r>
              <a:rPr lang="en-US" sz="2800" b="0" i="0" dirty="0">
                <a:solidFill>
                  <a:srgbClr val="37415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 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Lack of continuity in patient records when changing hospitals.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Solution</a:t>
            </a:r>
            <a:r>
              <a:rPr lang="en-US" sz="2800" b="1" i="0" dirty="0">
                <a:solidFill>
                  <a:srgbClr val="37415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:</a:t>
            </a:r>
            <a:r>
              <a:rPr lang="en-US" sz="2800" b="0" i="0" dirty="0">
                <a:solidFill>
                  <a:srgbClr val="37415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 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Create a centralized database connecting hospitals, patients, and doctors, ensuring seamless access to patient records across healthcare providers.</a:t>
            </a:r>
          </a:p>
          <a:p>
            <a:br>
              <a:rPr lang="en-US" sz="2800" dirty="0">
                <a:solidFill>
                  <a:schemeClr val="bg1"/>
                </a:solidFill>
                <a:latin typeface="Gautami" panose="020B0502040204020203" pitchFamily="34" charset="0"/>
                <a:cs typeface="Gautami" panose="020B0502040204020203" pitchFamily="34" charset="0"/>
              </a:rPr>
            </a:br>
            <a:endParaRPr lang="en-US" sz="2800" dirty="0">
              <a:solidFill>
                <a:schemeClr val="bg1"/>
              </a:solidFill>
              <a:latin typeface="Gautami" panose="020B0502040204020203" pitchFamily="34" charset="0"/>
              <a:cs typeface="Gautami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890059" y="38100"/>
            <a:ext cx="6008279" cy="3103423"/>
            <a:chOff x="0" y="0"/>
            <a:chExt cx="8011039" cy="4137897"/>
          </a:xfrm>
        </p:grpSpPr>
        <p:grpSp>
          <p:nvGrpSpPr>
            <p:cNvPr id="6" name="Group 6"/>
            <p:cNvGrpSpPr/>
            <p:nvPr/>
          </p:nvGrpSpPr>
          <p:grpSpPr>
            <a:xfrm rot="-10800000">
              <a:off x="2516855" y="2245873"/>
              <a:ext cx="454219" cy="454219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-10800000">
              <a:off x="1190684" y="1640136"/>
              <a:ext cx="771153" cy="771153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-10800000">
              <a:off x="419531" y="606050"/>
              <a:ext cx="551737" cy="551737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6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10800000">
              <a:off x="3094463" y="3211283"/>
              <a:ext cx="674380" cy="674380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19608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10800000">
              <a:off x="4583286" y="2472983"/>
              <a:ext cx="944219" cy="944219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-10800000">
              <a:off x="3865615" y="136965"/>
              <a:ext cx="607963" cy="607963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10800000">
              <a:off x="6486193" y="3374989"/>
              <a:ext cx="510674" cy="510674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 rot="-10800000">
              <a:off x="230200" y="3007985"/>
              <a:ext cx="406596" cy="406596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-10800000">
              <a:off x="5141929" y="964999"/>
              <a:ext cx="385576" cy="385576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 rot="-10800000">
              <a:off x="6337572" y="0"/>
              <a:ext cx="606050" cy="606050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-10800000">
              <a:off x="2704306" y="772211"/>
              <a:ext cx="266769" cy="266769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-10800000">
              <a:off x="0" y="1698740"/>
              <a:ext cx="230200" cy="230200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2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-10800000">
              <a:off x="3781716" y="1491531"/>
              <a:ext cx="414417" cy="414417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-10800000">
              <a:off x="6188950" y="2334918"/>
              <a:ext cx="297243" cy="297243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6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-10800000">
              <a:off x="1576260" y="3779705"/>
              <a:ext cx="358192" cy="358192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-10800000">
              <a:off x="7732080" y="382258"/>
              <a:ext cx="278959" cy="278959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 rot="-10800000">
              <a:off x="6865384" y="1350575"/>
              <a:ext cx="526532" cy="526532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</p:grpSp>
      <p:sp>
        <p:nvSpPr>
          <p:cNvPr id="57" name="TextBox 57"/>
          <p:cNvSpPr txBox="1"/>
          <p:nvPr/>
        </p:nvSpPr>
        <p:spPr>
          <a:xfrm>
            <a:off x="890224" y="1028700"/>
            <a:ext cx="6589464" cy="135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0560"/>
              </a:lnSpc>
              <a:spcBef>
                <a:spcPct val="0"/>
              </a:spcBef>
            </a:pPr>
            <a:r>
              <a:rPr lang="en-US" sz="8800" spc="-369" dirty="0">
                <a:solidFill>
                  <a:srgbClr val="FFFFFF"/>
                </a:solidFill>
                <a:latin typeface="Gautami" panose="020B0502040204020203" pitchFamily="34" charset="0"/>
                <a:cs typeface="Gautami" panose="020B0502040204020203" pitchFamily="34" charset="0"/>
              </a:rPr>
              <a:t> Objectives 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609600" y="1978090"/>
            <a:ext cx="17405451" cy="4231900"/>
            <a:chOff x="0" y="-241101"/>
            <a:chExt cx="13220153" cy="2573318"/>
          </a:xfrm>
        </p:grpSpPr>
        <p:grpSp>
          <p:nvGrpSpPr>
            <p:cNvPr id="59" name="Group 59"/>
            <p:cNvGrpSpPr/>
            <p:nvPr/>
          </p:nvGrpSpPr>
          <p:grpSpPr>
            <a:xfrm>
              <a:off x="0" y="-241101"/>
              <a:ext cx="13220153" cy="2573318"/>
              <a:chOff x="0" y="-47625"/>
              <a:chExt cx="2611388" cy="50831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2611388" cy="460685"/>
              </a:xfrm>
              <a:custGeom>
                <a:avLst/>
                <a:gdLst/>
                <a:ahLst/>
                <a:cxnLst/>
                <a:rect l="l" t="t" r="r" b="b"/>
                <a:pathLst>
                  <a:path w="2611388" h="460685">
                    <a:moveTo>
                      <a:pt x="39822" y="0"/>
                    </a:moveTo>
                    <a:lnTo>
                      <a:pt x="2571566" y="0"/>
                    </a:lnTo>
                    <a:cubicBezTo>
                      <a:pt x="2582128" y="0"/>
                      <a:pt x="2592257" y="4196"/>
                      <a:pt x="2599725" y="11664"/>
                    </a:cubicBezTo>
                    <a:cubicBezTo>
                      <a:pt x="2607193" y="19132"/>
                      <a:pt x="2611388" y="29260"/>
                      <a:pt x="2611388" y="39822"/>
                    </a:cubicBezTo>
                    <a:lnTo>
                      <a:pt x="2611388" y="420863"/>
                    </a:lnTo>
                    <a:cubicBezTo>
                      <a:pt x="2611388" y="442856"/>
                      <a:pt x="2593560" y="460685"/>
                      <a:pt x="2571566" y="460685"/>
                    </a:cubicBezTo>
                    <a:lnTo>
                      <a:pt x="39822" y="460685"/>
                    </a:lnTo>
                    <a:cubicBezTo>
                      <a:pt x="29260" y="460685"/>
                      <a:pt x="19132" y="456489"/>
                      <a:pt x="11664" y="449021"/>
                    </a:cubicBezTo>
                    <a:cubicBezTo>
                      <a:pt x="4196" y="441553"/>
                      <a:pt x="0" y="431424"/>
                      <a:pt x="0" y="420863"/>
                    </a:cubicBezTo>
                    <a:lnTo>
                      <a:pt x="0" y="39822"/>
                    </a:lnTo>
                    <a:cubicBezTo>
                      <a:pt x="0" y="29260"/>
                      <a:pt x="4196" y="19132"/>
                      <a:pt x="11664" y="11664"/>
                    </a:cubicBezTo>
                    <a:cubicBezTo>
                      <a:pt x="19132" y="4196"/>
                      <a:pt x="29260" y="0"/>
                      <a:pt x="3982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09699">
                      <a:alpha val="100000"/>
                    </a:srgbClr>
                  </a:gs>
                  <a:gs pos="100000">
                    <a:srgbClr val="113F57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0" y="-47625"/>
                <a:ext cx="2611388" cy="5083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599825" y="370453"/>
              <a:ext cx="10491535" cy="3368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600" b="1" i="0" dirty="0">
                  <a:effectLst/>
                  <a:latin typeface="Gautami" panose="020B0502040204020203" pitchFamily="34" charset="0"/>
                  <a:cs typeface="Gautami" panose="020B0502040204020203" pitchFamily="34" charset="0"/>
                </a:rPr>
                <a:t>Problem Statements and Solutions: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9600" y="6970832"/>
            <a:ext cx="17405451" cy="2928445"/>
            <a:chOff x="0" y="0"/>
            <a:chExt cx="13220153" cy="2332217"/>
          </a:xfrm>
        </p:grpSpPr>
        <p:grpSp>
          <p:nvGrpSpPr>
            <p:cNvPr id="65" name="Group 65"/>
            <p:cNvGrpSpPr/>
            <p:nvPr/>
          </p:nvGrpSpPr>
          <p:grpSpPr>
            <a:xfrm>
              <a:off x="0" y="0"/>
              <a:ext cx="13220153" cy="2332217"/>
              <a:chOff x="0" y="0"/>
              <a:chExt cx="2611388" cy="46068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2611388" cy="460685"/>
              </a:xfrm>
              <a:custGeom>
                <a:avLst/>
                <a:gdLst/>
                <a:ahLst/>
                <a:cxnLst/>
                <a:rect l="l" t="t" r="r" b="b"/>
                <a:pathLst>
                  <a:path w="2611388" h="460685">
                    <a:moveTo>
                      <a:pt x="39822" y="0"/>
                    </a:moveTo>
                    <a:lnTo>
                      <a:pt x="2571566" y="0"/>
                    </a:lnTo>
                    <a:cubicBezTo>
                      <a:pt x="2582128" y="0"/>
                      <a:pt x="2592257" y="4196"/>
                      <a:pt x="2599725" y="11664"/>
                    </a:cubicBezTo>
                    <a:cubicBezTo>
                      <a:pt x="2607193" y="19132"/>
                      <a:pt x="2611388" y="29260"/>
                      <a:pt x="2611388" y="39822"/>
                    </a:cubicBezTo>
                    <a:lnTo>
                      <a:pt x="2611388" y="420863"/>
                    </a:lnTo>
                    <a:cubicBezTo>
                      <a:pt x="2611388" y="442856"/>
                      <a:pt x="2593560" y="460685"/>
                      <a:pt x="2571566" y="460685"/>
                    </a:cubicBezTo>
                    <a:lnTo>
                      <a:pt x="39822" y="460685"/>
                    </a:lnTo>
                    <a:cubicBezTo>
                      <a:pt x="29260" y="460685"/>
                      <a:pt x="19132" y="456489"/>
                      <a:pt x="11664" y="449021"/>
                    </a:cubicBezTo>
                    <a:cubicBezTo>
                      <a:pt x="4196" y="441553"/>
                      <a:pt x="0" y="431424"/>
                      <a:pt x="0" y="420863"/>
                    </a:cubicBezTo>
                    <a:lnTo>
                      <a:pt x="0" y="39822"/>
                    </a:lnTo>
                    <a:cubicBezTo>
                      <a:pt x="0" y="29260"/>
                      <a:pt x="4196" y="19132"/>
                      <a:pt x="11664" y="11664"/>
                    </a:cubicBezTo>
                    <a:cubicBezTo>
                      <a:pt x="19132" y="4196"/>
                      <a:pt x="29260" y="0"/>
                      <a:pt x="3982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09699">
                      <a:alpha val="100000"/>
                    </a:srgbClr>
                  </a:gs>
                  <a:gs pos="100000">
                    <a:srgbClr val="113F57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0" y="-47625"/>
                <a:ext cx="2611388" cy="5083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sp>
          <p:nvSpPr>
            <p:cNvPr id="68" name="TextBox 68"/>
            <p:cNvSpPr txBox="1"/>
            <p:nvPr/>
          </p:nvSpPr>
          <p:spPr>
            <a:xfrm>
              <a:off x="599825" y="370453"/>
              <a:ext cx="12603375" cy="4412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sz="3600" b="0" i="0" dirty="0">
                  <a:solidFill>
                    <a:schemeClr val="bg1"/>
                  </a:solidFill>
                  <a:effectLst/>
                  <a:latin typeface="Gautami" panose="020B0502040204020203" pitchFamily="34" charset="0"/>
                  <a:cs typeface="Gautami" panose="020B0502040204020203" pitchFamily="34" charset="0"/>
                </a:rPr>
                <a:t>4) Future Blood Availability Prediction: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 rot="-10800000">
            <a:off x="16054513" y="8865045"/>
            <a:ext cx="4466974" cy="2352060"/>
            <a:chOff x="0" y="0"/>
            <a:chExt cx="5955966" cy="3136080"/>
          </a:xfrm>
        </p:grpSpPr>
        <p:grpSp>
          <p:nvGrpSpPr>
            <p:cNvPr id="77" name="Group 77"/>
            <p:cNvGrpSpPr/>
            <p:nvPr/>
          </p:nvGrpSpPr>
          <p:grpSpPr>
            <a:xfrm>
              <a:off x="3501261" y="1100713"/>
              <a:ext cx="575714" cy="575714"/>
              <a:chOff x="0" y="0"/>
              <a:chExt cx="812800" cy="8128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4491332" y="1316323"/>
              <a:ext cx="575714" cy="575714"/>
              <a:chOff x="0" y="0"/>
              <a:chExt cx="812800" cy="81280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4876785" y="2252141"/>
              <a:ext cx="575714" cy="575714"/>
              <a:chOff x="0" y="0"/>
              <a:chExt cx="812800" cy="8128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6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3070041" y="143363"/>
              <a:ext cx="575714" cy="575714"/>
              <a:chOff x="0" y="0"/>
              <a:chExt cx="812800" cy="81280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19608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2063107" y="719077"/>
              <a:ext cx="575714" cy="575714"/>
              <a:chOff x="0" y="0"/>
              <a:chExt cx="812800" cy="81280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>
              <a:off x="2206470" y="2539998"/>
              <a:ext cx="575714" cy="575714"/>
              <a:chOff x="0" y="0"/>
              <a:chExt cx="812800" cy="812800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>
              <a:off x="5164642" y="431220"/>
              <a:ext cx="575714" cy="575714"/>
              <a:chOff x="0" y="0"/>
              <a:chExt cx="812800" cy="812800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1335526" y="1964284"/>
              <a:ext cx="575714" cy="575714"/>
              <a:chOff x="0" y="0"/>
              <a:chExt cx="812800" cy="812800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1" name="Group 101"/>
            <p:cNvGrpSpPr/>
            <p:nvPr/>
          </p:nvGrpSpPr>
          <p:grpSpPr>
            <a:xfrm>
              <a:off x="462067" y="2560366"/>
              <a:ext cx="575714" cy="575714"/>
              <a:chOff x="0" y="0"/>
              <a:chExt cx="812800" cy="812800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3357898" y="2536564"/>
              <a:ext cx="431220" cy="431220"/>
              <a:chOff x="0" y="0"/>
              <a:chExt cx="812800" cy="812800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7" name="Group 107"/>
            <p:cNvGrpSpPr/>
            <p:nvPr/>
          </p:nvGrpSpPr>
          <p:grpSpPr>
            <a:xfrm>
              <a:off x="5524746" y="1676427"/>
              <a:ext cx="431220" cy="431220"/>
              <a:chOff x="0" y="0"/>
              <a:chExt cx="812800" cy="812800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2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2494327" y="1582648"/>
              <a:ext cx="431220" cy="431220"/>
              <a:chOff x="0" y="0"/>
              <a:chExt cx="812800" cy="812800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2" name="TextBox 11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3" name="Group 113"/>
            <p:cNvGrpSpPr/>
            <p:nvPr/>
          </p:nvGrpSpPr>
          <p:grpSpPr>
            <a:xfrm>
              <a:off x="904306" y="1151428"/>
              <a:ext cx="431220" cy="431220"/>
              <a:chOff x="0" y="0"/>
              <a:chExt cx="812800" cy="812800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6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>
              <a:off x="4445565" y="0"/>
              <a:ext cx="431220" cy="431220"/>
              <a:chOff x="0" y="0"/>
              <a:chExt cx="812800" cy="812800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0" y="1676427"/>
              <a:ext cx="575714" cy="575714"/>
              <a:chOff x="0" y="0"/>
              <a:chExt cx="812800" cy="812800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</p:grpSp>
      <p:sp>
        <p:nvSpPr>
          <p:cNvPr id="123" name="Rectangle 122"/>
          <p:cNvSpPr/>
          <p:nvPr/>
        </p:nvSpPr>
        <p:spPr>
          <a:xfrm>
            <a:off x="985092" y="3691556"/>
            <a:ext cx="1696719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3) Automatic Medical Portfolio Generation: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Problem:</a:t>
            </a:r>
            <a:r>
              <a:rPr lang="en-US" sz="3200" b="0" i="0" dirty="0"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 </a:t>
            </a:r>
            <a:r>
              <a:rPr lang="en-US" sz="32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Overreliance on paperwork for medical records.</a:t>
            </a:r>
            <a:br>
              <a:rPr lang="en-US" sz="32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</a:br>
            <a:r>
              <a:rPr lang="en-US" sz="3200" b="1" i="0" dirty="0"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Solution:</a:t>
            </a:r>
            <a:r>
              <a:rPr lang="en-US" sz="3200" b="0" i="0" dirty="0"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 </a:t>
            </a:r>
            <a:r>
              <a:rPr lang="en-US" sz="32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Implement an automatic medical portfolio system, reducing paperwork and providing a comprehensive digital record for patients.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399320" y="8013075"/>
            <a:ext cx="1469667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Problem</a:t>
            </a:r>
            <a:r>
              <a:rPr lang="en-US" sz="2800" b="1" i="0" dirty="0">
                <a:solidFill>
                  <a:srgbClr val="37415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:</a:t>
            </a:r>
            <a:r>
              <a:rPr lang="en-US" sz="2800" b="0" i="0" dirty="0">
                <a:solidFill>
                  <a:srgbClr val="37415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 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Uncertainty in blood availability during emergencies.</a:t>
            </a:r>
            <a:br>
              <a:rPr lang="en-US" sz="28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</a:br>
            <a:r>
              <a:rPr lang="en-US" sz="2800" b="1" i="0" dirty="0"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Solution</a:t>
            </a:r>
            <a:r>
              <a:rPr lang="en-US" sz="2800" b="1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: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 Develop a predictive analytics system to forecast future blood availability in different hospitals, optimizing blood management and emergency response.</a:t>
            </a:r>
            <a:br>
              <a:rPr lang="en-US" sz="2800" dirty="0">
                <a:solidFill>
                  <a:schemeClr val="bg1"/>
                </a:solidFill>
                <a:latin typeface="Gautami" panose="020B0502040204020203" pitchFamily="34" charset="0"/>
                <a:cs typeface="Gautami" pitchFamily="34" charset="0"/>
              </a:rPr>
            </a:br>
            <a:endParaRPr lang="en-US" sz="2800" dirty="0">
              <a:solidFill>
                <a:schemeClr val="bg1"/>
              </a:solidFill>
              <a:latin typeface="Gautami" panose="020B0502040204020203" pitchFamily="34" charset="0"/>
              <a:cs typeface="Gauta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409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D5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16856964" cy="8846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hatbot&#10;&#10;Description automatically generated">
            <a:extLst>
              <a:ext uri="{FF2B5EF4-FFF2-40B4-BE49-F238E27FC236}">
                <a16:creationId xmlns:a16="http://schemas.microsoft.com/office/drawing/2014/main" id="{EEDAB2CB-5429-A9E2-26F0-B81352991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504" y="965200"/>
            <a:ext cx="6162991" cy="835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132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blood testing results&#10;&#10;Description automatically generated">
            <a:extLst>
              <a:ext uri="{FF2B5EF4-FFF2-40B4-BE49-F238E27FC236}">
                <a16:creationId xmlns:a16="http://schemas.microsoft.com/office/drawing/2014/main" id="{636A7466-2B59-AE76-0C67-E0777AC927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7" r="5793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67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 shot of a chart&#10;&#10;Description automatically generated">
            <a:extLst>
              <a:ext uri="{FF2B5EF4-FFF2-40B4-BE49-F238E27FC236}">
                <a16:creationId xmlns:a16="http://schemas.microsoft.com/office/drawing/2014/main" id="{B91E9C43-6482-EA85-E0CE-948F79F96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61" b="1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87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E600EE0-D251-61C6-6101-8E2D729EAD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4" r="8667" b="1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302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medical website&#10;&#10;Description automatically generated">
            <a:extLst>
              <a:ext uri="{FF2B5EF4-FFF2-40B4-BE49-F238E27FC236}">
                <a16:creationId xmlns:a16="http://schemas.microsoft.com/office/drawing/2014/main" id="{AB6F431A-A9E0-670D-072A-829AE98F66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8" b="1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545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86051" y="2386294"/>
            <a:ext cx="365863" cy="36586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6CE5E8">
                <a:alpha val="49804"/>
              </a:srgbClr>
            </a:soli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922137" y="4254693"/>
            <a:ext cx="365863" cy="3658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5ECB86"/>
            </a:soli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86669" y="1837499"/>
            <a:ext cx="365863" cy="3658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5ECB86">
                <a:alpha val="19608"/>
              </a:srgbClr>
            </a:soli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554943" y="2445890"/>
            <a:ext cx="365863" cy="3658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6CE5E8">
                <a:alpha val="80000"/>
              </a:srgbClr>
            </a:soli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080520" y="1810031"/>
            <a:ext cx="365863" cy="3658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6CE5E8">
                <a:alpha val="49804"/>
              </a:srgbClr>
            </a:soli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001462" y="2994685"/>
            <a:ext cx="365863" cy="365863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6CE5E8">
                <a:alpha val="80000"/>
              </a:srgbClr>
            </a:soli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61755" y="1654568"/>
            <a:ext cx="365863" cy="365863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5ECB86">
                <a:alpha val="80000"/>
              </a:srgbClr>
            </a:soli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446384" y="3373492"/>
            <a:ext cx="365863" cy="365863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5ECB86">
                <a:alpha val="49804"/>
              </a:srgbClr>
            </a:soli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644253" y="-523011"/>
            <a:ext cx="6008279" cy="3103423"/>
            <a:chOff x="0" y="0"/>
            <a:chExt cx="8011039" cy="4137897"/>
          </a:xfrm>
        </p:grpSpPr>
        <p:grpSp>
          <p:nvGrpSpPr>
            <p:cNvPr id="27" name="Group 27"/>
            <p:cNvGrpSpPr/>
            <p:nvPr/>
          </p:nvGrpSpPr>
          <p:grpSpPr>
            <a:xfrm rot="-10800000">
              <a:off x="2516855" y="2245873"/>
              <a:ext cx="454219" cy="454219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-10800000">
              <a:off x="1190684" y="1640136"/>
              <a:ext cx="771153" cy="771153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 rot="-10800000">
              <a:off x="419531" y="606050"/>
              <a:ext cx="551737" cy="551737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6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-10800000">
              <a:off x="3094463" y="3211283"/>
              <a:ext cx="674380" cy="674380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19608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-10800000">
              <a:off x="4583286" y="2472983"/>
              <a:ext cx="944219" cy="944219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-10800000">
              <a:off x="3865615" y="136965"/>
              <a:ext cx="607963" cy="607963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-10800000">
              <a:off x="6486193" y="3374989"/>
              <a:ext cx="510674" cy="510674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-10800000">
              <a:off x="230200" y="3007985"/>
              <a:ext cx="406596" cy="406596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-10800000">
              <a:off x="5141929" y="964999"/>
              <a:ext cx="385576" cy="385576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 rot="-10800000">
              <a:off x="6337572" y="0"/>
              <a:ext cx="606050" cy="606050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 rot="-10800000">
              <a:off x="2704306" y="772211"/>
              <a:ext cx="266769" cy="266769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 rot="-10800000">
              <a:off x="0" y="1698740"/>
              <a:ext cx="230200" cy="230200"/>
              <a:chOff x="0" y="0"/>
              <a:chExt cx="812800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2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 rot="-10800000">
              <a:off x="3781716" y="1491531"/>
              <a:ext cx="414417" cy="414417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 rot="-10800000">
              <a:off x="6188950" y="2334918"/>
              <a:ext cx="297243" cy="297243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6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 rot="-10800000">
              <a:off x="1576260" y="3779705"/>
              <a:ext cx="358192" cy="358192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 rot="-10800000">
              <a:off x="7732080" y="382258"/>
              <a:ext cx="278959" cy="278959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 rot="-10800000">
              <a:off x="6865384" y="1350575"/>
              <a:ext cx="526532" cy="526532"/>
              <a:chOff x="0" y="0"/>
              <a:chExt cx="812800" cy="81280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-395070" y="8791398"/>
            <a:ext cx="4150798" cy="2143989"/>
            <a:chOff x="0" y="0"/>
            <a:chExt cx="5534397" cy="2858651"/>
          </a:xfrm>
        </p:grpSpPr>
        <p:grpSp>
          <p:nvGrpSpPr>
            <p:cNvPr id="79" name="Group 79"/>
            <p:cNvGrpSpPr/>
            <p:nvPr/>
          </p:nvGrpSpPr>
          <p:grpSpPr>
            <a:xfrm rot="-10800000">
              <a:off x="1738760" y="1551553"/>
              <a:ext cx="313796" cy="313796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 rot="-10800000">
              <a:off x="822580" y="1133082"/>
              <a:ext cx="532748" cy="532748"/>
              <a:chOff x="0" y="0"/>
              <a:chExt cx="812800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 rot="-10800000">
              <a:off x="289832" y="418687"/>
              <a:ext cx="381166" cy="381166"/>
              <a:chOff x="0" y="0"/>
              <a:chExt cx="812800" cy="8128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6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 rot="-10800000">
              <a:off x="2137798" y="2218503"/>
              <a:ext cx="465893" cy="465893"/>
              <a:chOff x="0" y="0"/>
              <a:chExt cx="812800" cy="8128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19608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 rot="-10800000">
              <a:off x="3166347" y="1708451"/>
              <a:ext cx="652310" cy="652310"/>
              <a:chOff x="0" y="0"/>
              <a:chExt cx="812800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 rot="-10800000">
              <a:off x="2670547" y="94622"/>
              <a:ext cx="420009" cy="420009"/>
              <a:chOff x="0" y="0"/>
              <a:chExt cx="812800" cy="8128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 rot="-10800000">
              <a:off x="4480963" y="2331599"/>
              <a:ext cx="352797" cy="352797"/>
              <a:chOff x="0" y="0"/>
              <a:chExt cx="812800" cy="81280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 rot="-10800000">
              <a:off x="159033" y="2078055"/>
              <a:ext cx="280896" cy="280896"/>
              <a:chOff x="0" y="0"/>
              <a:chExt cx="812800" cy="81280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 rot="-10800000">
              <a:off x="3552283" y="666666"/>
              <a:ext cx="266374" cy="266374"/>
              <a:chOff x="0" y="0"/>
              <a:chExt cx="812800" cy="81280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 rot="-10800000">
              <a:off x="4378289" y="0"/>
              <a:ext cx="418687" cy="418687"/>
              <a:chOff x="0" y="0"/>
              <a:chExt cx="812800" cy="81280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 rot="-10800000">
              <a:off x="1868260" y="533479"/>
              <a:ext cx="184296" cy="184296"/>
              <a:chOff x="0" y="0"/>
              <a:chExt cx="812800" cy="81280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1" name="TextBox 11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 rot="-10800000">
              <a:off x="0" y="1173568"/>
              <a:ext cx="159033" cy="159033"/>
              <a:chOff x="0" y="0"/>
              <a:chExt cx="812800" cy="81280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2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4" name="TextBox 11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 rot="-10800000">
              <a:off x="2612585" y="1030419"/>
              <a:ext cx="286299" cy="286299"/>
              <a:chOff x="0" y="0"/>
              <a:chExt cx="812800" cy="81280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 rot="-10800000">
              <a:off x="4275614" y="1613069"/>
              <a:ext cx="205349" cy="205349"/>
              <a:chOff x="0" y="0"/>
              <a:chExt cx="812800" cy="81280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6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20" name="TextBox 120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 rot="-10800000">
              <a:off x="1088954" y="2611196"/>
              <a:ext cx="247456" cy="247456"/>
              <a:chOff x="0" y="0"/>
              <a:chExt cx="812800" cy="81280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23" name="TextBox 12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 rot="-10800000">
              <a:off x="5341680" y="264082"/>
              <a:ext cx="192718" cy="192718"/>
              <a:chOff x="0" y="0"/>
              <a:chExt cx="812800" cy="81280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26" name="TextBox 126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 rot="-10800000">
              <a:off x="4742926" y="933040"/>
              <a:ext cx="363753" cy="363753"/>
              <a:chOff x="0" y="0"/>
              <a:chExt cx="812800" cy="81280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29" name="TextBox 12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</p:grpSp>
      <p:sp>
        <p:nvSpPr>
          <p:cNvPr id="130" name="Freeform 130"/>
          <p:cNvSpPr/>
          <p:nvPr/>
        </p:nvSpPr>
        <p:spPr>
          <a:xfrm flipH="1">
            <a:off x="9333971" y="0"/>
            <a:ext cx="9059477" cy="10287000"/>
          </a:xfrm>
          <a:custGeom>
            <a:avLst/>
            <a:gdLst/>
            <a:ahLst/>
            <a:cxnLst/>
            <a:rect l="l" t="t" r="r" b="b"/>
            <a:pathLst>
              <a:path w="9059477" h="10287000">
                <a:moveTo>
                  <a:pt x="9059476" y="0"/>
                </a:moveTo>
                <a:lnTo>
                  <a:pt x="0" y="0"/>
                </a:lnTo>
                <a:lnTo>
                  <a:pt x="0" y="10287000"/>
                </a:lnTo>
                <a:lnTo>
                  <a:pt x="9059476" y="10287000"/>
                </a:lnTo>
                <a:lnTo>
                  <a:pt x="9059476" y="0"/>
                </a:lnTo>
                <a:close/>
              </a:path>
            </a:pathLst>
          </a:custGeom>
          <a:blipFill>
            <a:blip r:embed="rId2"/>
            <a:stretch>
              <a:fillRect t="-7217" r="-19169" b="-50304"/>
            </a:stretch>
          </a:blipFill>
        </p:spPr>
        <p:txBody>
          <a:bodyPr/>
          <a:lstStyle/>
          <a:p>
            <a:endParaRPr lang="en-US">
              <a:latin typeface="Gautami" panose="020B0502040204020203" pitchFamily="34" charset="0"/>
              <a:cs typeface="Gautami" panose="020B0502040204020203" pitchFamily="34" charset="0"/>
            </a:endParaRPr>
          </a:p>
        </p:txBody>
      </p:sp>
      <p:sp>
        <p:nvSpPr>
          <p:cNvPr id="131" name="TextBox 131"/>
          <p:cNvSpPr txBox="1"/>
          <p:nvPr/>
        </p:nvSpPr>
        <p:spPr>
          <a:xfrm>
            <a:off x="108180" y="1019175"/>
            <a:ext cx="10590179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559"/>
              </a:lnSpc>
              <a:spcBef>
                <a:spcPct val="0"/>
              </a:spcBef>
            </a:pPr>
            <a:r>
              <a:rPr lang="en-US" sz="8799" spc="-369" dirty="0">
                <a:solidFill>
                  <a:srgbClr val="FFFFFF"/>
                </a:solidFill>
                <a:latin typeface="Gautami" panose="020B0502040204020203" pitchFamily="34" charset="0"/>
                <a:cs typeface="Gautami" panose="020B0502040204020203" pitchFamily="34" charset="0"/>
              </a:rPr>
              <a:t>Project Features :</a:t>
            </a:r>
            <a:endParaRPr lang="en-US" sz="8799" u="none" strike="noStrike" spc="-369" dirty="0">
              <a:solidFill>
                <a:srgbClr val="FFFFFF"/>
              </a:solidFill>
              <a:latin typeface="Gautami" panose="020B0502040204020203" pitchFamily="34" charset="0"/>
              <a:cs typeface="Gautami" panose="020B0502040204020203" pitchFamily="34" charset="0"/>
            </a:endParaRPr>
          </a:p>
        </p:txBody>
      </p:sp>
      <p:grpSp>
        <p:nvGrpSpPr>
          <p:cNvPr id="132" name="Group 132"/>
          <p:cNvGrpSpPr/>
          <p:nvPr/>
        </p:nvGrpSpPr>
        <p:grpSpPr>
          <a:xfrm>
            <a:off x="108181" y="2261657"/>
            <a:ext cx="9569220" cy="7229520"/>
            <a:chOff x="0" y="-241102"/>
            <a:chExt cx="13204921" cy="3168640"/>
          </a:xfrm>
        </p:grpSpPr>
        <p:grpSp>
          <p:nvGrpSpPr>
            <p:cNvPr id="133" name="Group 133"/>
            <p:cNvGrpSpPr/>
            <p:nvPr/>
          </p:nvGrpSpPr>
          <p:grpSpPr>
            <a:xfrm>
              <a:off x="0" y="-241102"/>
              <a:ext cx="13204921" cy="3168640"/>
              <a:chOff x="0" y="-47625"/>
              <a:chExt cx="2608379" cy="625904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0" y="0"/>
                <a:ext cx="2608379" cy="578279"/>
              </a:xfrm>
              <a:custGeom>
                <a:avLst/>
                <a:gdLst/>
                <a:ahLst/>
                <a:cxnLst/>
                <a:rect l="l" t="t" r="r" b="b"/>
                <a:pathLst>
                  <a:path w="2608379" h="578279">
                    <a:moveTo>
                      <a:pt x="39868" y="0"/>
                    </a:moveTo>
                    <a:lnTo>
                      <a:pt x="2568512" y="0"/>
                    </a:lnTo>
                    <a:cubicBezTo>
                      <a:pt x="2579085" y="0"/>
                      <a:pt x="2589226" y="4200"/>
                      <a:pt x="2596702" y="11677"/>
                    </a:cubicBezTo>
                    <a:cubicBezTo>
                      <a:pt x="2604179" y="19154"/>
                      <a:pt x="2608379" y="29294"/>
                      <a:pt x="2608379" y="39868"/>
                    </a:cubicBezTo>
                    <a:lnTo>
                      <a:pt x="2608379" y="538411"/>
                    </a:lnTo>
                    <a:cubicBezTo>
                      <a:pt x="2608379" y="560430"/>
                      <a:pt x="2590530" y="578279"/>
                      <a:pt x="2568512" y="578279"/>
                    </a:cubicBezTo>
                    <a:lnTo>
                      <a:pt x="39868" y="578279"/>
                    </a:lnTo>
                    <a:cubicBezTo>
                      <a:pt x="29294" y="578279"/>
                      <a:pt x="19154" y="574079"/>
                      <a:pt x="11677" y="566602"/>
                    </a:cubicBezTo>
                    <a:cubicBezTo>
                      <a:pt x="4200" y="559126"/>
                      <a:pt x="0" y="548985"/>
                      <a:pt x="0" y="538411"/>
                    </a:cubicBezTo>
                    <a:lnTo>
                      <a:pt x="0" y="39868"/>
                    </a:lnTo>
                    <a:cubicBezTo>
                      <a:pt x="0" y="29294"/>
                      <a:pt x="4200" y="19154"/>
                      <a:pt x="11677" y="11677"/>
                    </a:cubicBezTo>
                    <a:cubicBezTo>
                      <a:pt x="19154" y="4200"/>
                      <a:pt x="29294" y="0"/>
                      <a:pt x="39868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09699">
                      <a:alpha val="100000"/>
                    </a:srgbClr>
                  </a:gs>
                  <a:gs pos="50000">
                    <a:srgbClr val="113F57">
                      <a:alpha val="100000"/>
                    </a:srgbClr>
                  </a:gs>
                  <a:gs pos="100000">
                    <a:srgbClr val="5ECB86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35" name="TextBox 135"/>
              <p:cNvSpPr txBox="1"/>
              <p:nvPr/>
            </p:nvSpPr>
            <p:spPr>
              <a:xfrm>
                <a:off x="0" y="-47625"/>
                <a:ext cx="2608379" cy="6259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sp>
          <p:nvSpPr>
            <p:cNvPr id="136" name="TextBox 136"/>
            <p:cNvSpPr txBox="1"/>
            <p:nvPr/>
          </p:nvSpPr>
          <p:spPr>
            <a:xfrm>
              <a:off x="286104" y="777781"/>
              <a:ext cx="12141700" cy="241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>
                <a:lnSpc>
                  <a:spcPts val="4320"/>
                </a:lnSpc>
                <a:spcBef>
                  <a:spcPct val="0"/>
                </a:spcBef>
              </a:pPr>
              <a:endParaRPr lang="en-US" sz="3600" dirty="0">
                <a:solidFill>
                  <a:srgbClr val="FFFFFF"/>
                </a:solidFill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sp>
        <p:nvSpPr>
          <p:cNvPr id="141" name="TextBox 141"/>
          <p:cNvSpPr txBox="1"/>
          <p:nvPr/>
        </p:nvSpPr>
        <p:spPr>
          <a:xfrm>
            <a:off x="-1751192" y="6881819"/>
            <a:ext cx="9903691" cy="237648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359"/>
              </a:lnSpc>
            </a:pPr>
            <a:endParaRPr>
              <a:latin typeface="Gautami" panose="020B0502040204020203" pitchFamily="34" charset="0"/>
              <a:cs typeface="Gautami" panose="020B0502040204020203" pitchFamily="34" charset="0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252344" y="3956098"/>
            <a:ext cx="9144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Doctor Dashboard:</a:t>
            </a:r>
            <a:endParaRPr lang="en-US" sz="2800" b="0" i="0" dirty="0">
              <a:effectLst/>
              <a:latin typeface="Gautami" panose="020B0502040204020203" pitchFamily="34" charset="0"/>
              <a:cs typeface="Gautami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Access patient records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Schedule appointments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Receive and manage medical queries</a:t>
            </a:r>
            <a:br>
              <a:rPr lang="en-US" sz="28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</a:br>
            <a:endParaRPr lang="en-US" sz="2800" b="0" i="0" dirty="0">
              <a:solidFill>
                <a:schemeClr val="bg1"/>
              </a:solidFill>
              <a:effectLst/>
              <a:latin typeface="Gautami" panose="020B0502040204020203" pitchFamily="34" charset="0"/>
              <a:cs typeface="Gautami" panose="020B050204020402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Patient Dashboard:</a:t>
            </a:r>
            <a:endParaRPr lang="en-US" sz="2800" b="0" i="0" dirty="0">
              <a:effectLst/>
              <a:latin typeface="Gautami" panose="020B0502040204020203" pitchFamily="34" charset="0"/>
              <a:cs typeface="Gautami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Access personal medical portfolio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Communicate with doctors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Receive health insights from the chatbot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86051" y="2386294"/>
            <a:ext cx="365863" cy="36586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6CE5E8">
                <a:alpha val="49804"/>
              </a:srgbClr>
            </a:soli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922137" y="4254693"/>
            <a:ext cx="365863" cy="3658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5ECB86"/>
            </a:soli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86669" y="1837499"/>
            <a:ext cx="365863" cy="3658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5ECB86">
                <a:alpha val="19608"/>
              </a:srgbClr>
            </a:soli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554943" y="2445890"/>
            <a:ext cx="365863" cy="3658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6CE5E8">
                <a:alpha val="80000"/>
              </a:srgbClr>
            </a:soli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080520" y="1810031"/>
            <a:ext cx="365863" cy="3658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6CE5E8">
                <a:alpha val="49804"/>
              </a:srgbClr>
            </a:soli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001462" y="2994685"/>
            <a:ext cx="365863" cy="365863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6CE5E8">
                <a:alpha val="80000"/>
              </a:srgbClr>
            </a:soli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61755" y="1654568"/>
            <a:ext cx="365863" cy="365863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5ECB86">
                <a:alpha val="80000"/>
              </a:srgbClr>
            </a:soli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446384" y="3373492"/>
            <a:ext cx="365863" cy="365863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5ECB86">
                <a:alpha val="49804"/>
              </a:srgbClr>
            </a:solidFill>
          </p:spPr>
          <p:txBody>
            <a:bodyPr/>
            <a:lstStyle/>
            <a:p>
              <a:endParaRPr lang="en-US"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644253" y="-523011"/>
            <a:ext cx="6008279" cy="3103423"/>
            <a:chOff x="0" y="0"/>
            <a:chExt cx="8011039" cy="4137897"/>
          </a:xfrm>
        </p:grpSpPr>
        <p:grpSp>
          <p:nvGrpSpPr>
            <p:cNvPr id="27" name="Group 27"/>
            <p:cNvGrpSpPr/>
            <p:nvPr/>
          </p:nvGrpSpPr>
          <p:grpSpPr>
            <a:xfrm rot="-10800000">
              <a:off x="2516855" y="2245873"/>
              <a:ext cx="454219" cy="454219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-10800000">
              <a:off x="1190684" y="1640136"/>
              <a:ext cx="771153" cy="771153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 rot="-10800000">
              <a:off x="419531" y="606050"/>
              <a:ext cx="551737" cy="551737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6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-10800000">
              <a:off x="3094463" y="3211283"/>
              <a:ext cx="674380" cy="674380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19608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-10800000">
              <a:off x="4583286" y="2472983"/>
              <a:ext cx="944219" cy="944219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-10800000">
              <a:off x="3865615" y="136965"/>
              <a:ext cx="607963" cy="607963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-10800000">
              <a:off x="6486193" y="3374989"/>
              <a:ext cx="510674" cy="510674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-10800000">
              <a:off x="230200" y="3007985"/>
              <a:ext cx="406596" cy="406596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-10800000">
              <a:off x="5141929" y="964999"/>
              <a:ext cx="385576" cy="385576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 rot="-10800000">
              <a:off x="6337572" y="0"/>
              <a:ext cx="606050" cy="606050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 rot="-10800000">
              <a:off x="2704306" y="772211"/>
              <a:ext cx="266769" cy="266769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 rot="-10800000">
              <a:off x="0" y="1698740"/>
              <a:ext cx="230200" cy="230200"/>
              <a:chOff x="0" y="0"/>
              <a:chExt cx="812800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2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 rot="-10800000">
              <a:off x="3781716" y="1491531"/>
              <a:ext cx="414417" cy="414417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 rot="-10800000">
              <a:off x="6188950" y="2334918"/>
              <a:ext cx="297243" cy="297243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6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 rot="-10800000">
              <a:off x="1576260" y="3779705"/>
              <a:ext cx="358192" cy="358192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 rot="-10800000">
              <a:off x="7732080" y="382258"/>
              <a:ext cx="278959" cy="278959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 rot="-10800000">
              <a:off x="6865384" y="1350575"/>
              <a:ext cx="526532" cy="526532"/>
              <a:chOff x="0" y="0"/>
              <a:chExt cx="812800" cy="81280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-395070" y="8791398"/>
            <a:ext cx="4150798" cy="2143989"/>
            <a:chOff x="0" y="0"/>
            <a:chExt cx="5534397" cy="2858651"/>
          </a:xfrm>
        </p:grpSpPr>
        <p:grpSp>
          <p:nvGrpSpPr>
            <p:cNvPr id="79" name="Group 79"/>
            <p:cNvGrpSpPr/>
            <p:nvPr/>
          </p:nvGrpSpPr>
          <p:grpSpPr>
            <a:xfrm rot="-10800000">
              <a:off x="1738760" y="1551553"/>
              <a:ext cx="313796" cy="313796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 rot="-10800000">
              <a:off x="822580" y="1133082"/>
              <a:ext cx="532748" cy="532748"/>
              <a:chOff x="0" y="0"/>
              <a:chExt cx="812800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 rot="-10800000">
              <a:off x="289832" y="418687"/>
              <a:ext cx="381166" cy="381166"/>
              <a:chOff x="0" y="0"/>
              <a:chExt cx="812800" cy="8128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6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 rot="-10800000">
              <a:off x="2137798" y="2218503"/>
              <a:ext cx="465893" cy="465893"/>
              <a:chOff x="0" y="0"/>
              <a:chExt cx="812800" cy="8128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19608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 rot="-10800000">
              <a:off x="3166347" y="1708451"/>
              <a:ext cx="652310" cy="652310"/>
              <a:chOff x="0" y="0"/>
              <a:chExt cx="812800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 rot="-10800000">
              <a:off x="2670547" y="94622"/>
              <a:ext cx="420009" cy="420009"/>
              <a:chOff x="0" y="0"/>
              <a:chExt cx="812800" cy="8128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 rot="-10800000">
              <a:off x="4480963" y="2331599"/>
              <a:ext cx="352797" cy="352797"/>
              <a:chOff x="0" y="0"/>
              <a:chExt cx="812800" cy="81280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 rot="-10800000">
              <a:off x="159033" y="2078055"/>
              <a:ext cx="280896" cy="280896"/>
              <a:chOff x="0" y="0"/>
              <a:chExt cx="812800" cy="81280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 rot="-10800000">
              <a:off x="3552283" y="666666"/>
              <a:ext cx="266374" cy="266374"/>
              <a:chOff x="0" y="0"/>
              <a:chExt cx="812800" cy="81280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 rot="-10800000">
              <a:off x="4378289" y="0"/>
              <a:ext cx="418687" cy="418687"/>
              <a:chOff x="0" y="0"/>
              <a:chExt cx="812800" cy="81280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 rot="-10800000">
              <a:off x="1868260" y="533479"/>
              <a:ext cx="184296" cy="184296"/>
              <a:chOff x="0" y="0"/>
              <a:chExt cx="812800" cy="81280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1" name="TextBox 11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 rot="-10800000">
              <a:off x="0" y="1173568"/>
              <a:ext cx="159033" cy="159033"/>
              <a:chOff x="0" y="0"/>
              <a:chExt cx="812800" cy="81280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2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4" name="TextBox 11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 rot="-10800000">
              <a:off x="2612585" y="1030419"/>
              <a:ext cx="286299" cy="286299"/>
              <a:chOff x="0" y="0"/>
              <a:chExt cx="812800" cy="81280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 rot="-10800000">
              <a:off x="4275614" y="1613069"/>
              <a:ext cx="205349" cy="205349"/>
              <a:chOff x="0" y="0"/>
              <a:chExt cx="812800" cy="81280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6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20" name="TextBox 120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 rot="-10800000">
              <a:off x="1088954" y="2611196"/>
              <a:ext cx="247456" cy="247456"/>
              <a:chOff x="0" y="0"/>
              <a:chExt cx="812800" cy="81280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23" name="TextBox 12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 rot="-10800000">
              <a:off x="5341680" y="264082"/>
              <a:ext cx="192718" cy="192718"/>
              <a:chOff x="0" y="0"/>
              <a:chExt cx="812800" cy="81280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26" name="TextBox 126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 rot="-10800000">
              <a:off x="4742926" y="933040"/>
              <a:ext cx="363753" cy="363753"/>
              <a:chOff x="0" y="0"/>
              <a:chExt cx="812800" cy="81280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29" name="TextBox 12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</p:grpSp>
      <p:sp>
        <p:nvSpPr>
          <p:cNvPr id="130" name="Freeform 130"/>
          <p:cNvSpPr/>
          <p:nvPr/>
        </p:nvSpPr>
        <p:spPr>
          <a:xfrm flipH="1">
            <a:off x="9333971" y="0"/>
            <a:ext cx="9059477" cy="10287000"/>
          </a:xfrm>
          <a:custGeom>
            <a:avLst/>
            <a:gdLst/>
            <a:ahLst/>
            <a:cxnLst/>
            <a:rect l="l" t="t" r="r" b="b"/>
            <a:pathLst>
              <a:path w="9059477" h="10287000">
                <a:moveTo>
                  <a:pt x="9059476" y="0"/>
                </a:moveTo>
                <a:lnTo>
                  <a:pt x="0" y="0"/>
                </a:lnTo>
                <a:lnTo>
                  <a:pt x="0" y="10287000"/>
                </a:lnTo>
                <a:lnTo>
                  <a:pt x="9059476" y="10287000"/>
                </a:lnTo>
                <a:lnTo>
                  <a:pt x="9059476" y="0"/>
                </a:lnTo>
                <a:close/>
              </a:path>
            </a:pathLst>
          </a:custGeom>
          <a:blipFill>
            <a:blip r:embed="rId2"/>
            <a:stretch>
              <a:fillRect t="-7217" r="-19169" b="-50304"/>
            </a:stretch>
          </a:blipFill>
        </p:spPr>
        <p:txBody>
          <a:bodyPr/>
          <a:lstStyle/>
          <a:p>
            <a:endParaRPr lang="en-US">
              <a:latin typeface="Gautami" panose="020B0502040204020203" pitchFamily="34" charset="0"/>
              <a:cs typeface="Gautami" panose="020B0502040204020203" pitchFamily="34" charset="0"/>
            </a:endParaRPr>
          </a:p>
        </p:txBody>
      </p:sp>
      <p:sp>
        <p:nvSpPr>
          <p:cNvPr id="131" name="TextBox 131"/>
          <p:cNvSpPr txBox="1"/>
          <p:nvPr/>
        </p:nvSpPr>
        <p:spPr>
          <a:xfrm>
            <a:off x="108180" y="1019175"/>
            <a:ext cx="10590179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559"/>
              </a:lnSpc>
              <a:spcBef>
                <a:spcPct val="0"/>
              </a:spcBef>
            </a:pPr>
            <a:r>
              <a:rPr lang="en-US" sz="8799" spc="-369" dirty="0">
                <a:solidFill>
                  <a:srgbClr val="FFFFFF"/>
                </a:solidFill>
                <a:latin typeface="Gautami" panose="020B0502040204020203" pitchFamily="34" charset="0"/>
                <a:cs typeface="Gautami" panose="020B0502040204020203" pitchFamily="34" charset="0"/>
              </a:rPr>
              <a:t>Project Features :</a:t>
            </a:r>
            <a:endParaRPr lang="en-US" sz="8799" u="none" strike="noStrike" spc="-369" dirty="0">
              <a:solidFill>
                <a:srgbClr val="FFFFFF"/>
              </a:solidFill>
              <a:latin typeface="Gautami" panose="020B0502040204020203" pitchFamily="34" charset="0"/>
              <a:cs typeface="Gautami" panose="020B0502040204020203" pitchFamily="34" charset="0"/>
            </a:endParaRPr>
          </a:p>
        </p:txBody>
      </p:sp>
      <p:grpSp>
        <p:nvGrpSpPr>
          <p:cNvPr id="132" name="Group 132"/>
          <p:cNvGrpSpPr/>
          <p:nvPr/>
        </p:nvGrpSpPr>
        <p:grpSpPr>
          <a:xfrm>
            <a:off x="108181" y="2261657"/>
            <a:ext cx="9569220" cy="7229520"/>
            <a:chOff x="0" y="-241102"/>
            <a:chExt cx="13204921" cy="3168640"/>
          </a:xfrm>
        </p:grpSpPr>
        <p:grpSp>
          <p:nvGrpSpPr>
            <p:cNvPr id="133" name="Group 133"/>
            <p:cNvGrpSpPr/>
            <p:nvPr/>
          </p:nvGrpSpPr>
          <p:grpSpPr>
            <a:xfrm>
              <a:off x="0" y="-241102"/>
              <a:ext cx="13204921" cy="3168640"/>
              <a:chOff x="0" y="-47625"/>
              <a:chExt cx="2608379" cy="625904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0" y="0"/>
                <a:ext cx="2608379" cy="578279"/>
              </a:xfrm>
              <a:custGeom>
                <a:avLst/>
                <a:gdLst/>
                <a:ahLst/>
                <a:cxnLst/>
                <a:rect l="l" t="t" r="r" b="b"/>
                <a:pathLst>
                  <a:path w="2608379" h="578279">
                    <a:moveTo>
                      <a:pt x="39868" y="0"/>
                    </a:moveTo>
                    <a:lnTo>
                      <a:pt x="2568512" y="0"/>
                    </a:lnTo>
                    <a:cubicBezTo>
                      <a:pt x="2579085" y="0"/>
                      <a:pt x="2589226" y="4200"/>
                      <a:pt x="2596702" y="11677"/>
                    </a:cubicBezTo>
                    <a:cubicBezTo>
                      <a:pt x="2604179" y="19154"/>
                      <a:pt x="2608379" y="29294"/>
                      <a:pt x="2608379" y="39868"/>
                    </a:cubicBezTo>
                    <a:lnTo>
                      <a:pt x="2608379" y="538411"/>
                    </a:lnTo>
                    <a:cubicBezTo>
                      <a:pt x="2608379" y="560430"/>
                      <a:pt x="2590530" y="578279"/>
                      <a:pt x="2568512" y="578279"/>
                    </a:cubicBezTo>
                    <a:lnTo>
                      <a:pt x="39868" y="578279"/>
                    </a:lnTo>
                    <a:cubicBezTo>
                      <a:pt x="29294" y="578279"/>
                      <a:pt x="19154" y="574079"/>
                      <a:pt x="11677" y="566602"/>
                    </a:cubicBezTo>
                    <a:cubicBezTo>
                      <a:pt x="4200" y="559126"/>
                      <a:pt x="0" y="548985"/>
                      <a:pt x="0" y="538411"/>
                    </a:cubicBezTo>
                    <a:lnTo>
                      <a:pt x="0" y="39868"/>
                    </a:lnTo>
                    <a:cubicBezTo>
                      <a:pt x="0" y="29294"/>
                      <a:pt x="4200" y="19154"/>
                      <a:pt x="11677" y="11677"/>
                    </a:cubicBezTo>
                    <a:cubicBezTo>
                      <a:pt x="19154" y="4200"/>
                      <a:pt x="29294" y="0"/>
                      <a:pt x="39868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09699">
                      <a:alpha val="100000"/>
                    </a:srgbClr>
                  </a:gs>
                  <a:gs pos="50000">
                    <a:srgbClr val="113F57">
                      <a:alpha val="100000"/>
                    </a:srgbClr>
                  </a:gs>
                  <a:gs pos="100000">
                    <a:srgbClr val="5ECB86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 dirty="0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35" name="TextBox 135"/>
              <p:cNvSpPr txBox="1"/>
              <p:nvPr/>
            </p:nvSpPr>
            <p:spPr>
              <a:xfrm>
                <a:off x="0" y="-47625"/>
                <a:ext cx="2608379" cy="6259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sp>
          <p:nvSpPr>
            <p:cNvPr id="136" name="TextBox 136"/>
            <p:cNvSpPr txBox="1"/>
            <p:nvPr/>
          </p:nvSpPr>
          <p:spPr>
            <a:xfrm>
              <a:off x="286104" y="777781"/>
              <a:ext cx="12141700" cy="241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>
                <a:lnSpc>
                  <a:spcPts val="4320"/>
                </a:lnSpc>
                <a:spcBef>
                  <a:spcPct val="0"/>
                </a:spcBef>
              </a:pPr>
              <a:endParaRPr lang="en-US" sz="3600" dirty="0">
                <a:solidFill>
                  <a:srgbClr val="FFFFFF"/>
                </a:solidFill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</p:grpSp>
      <p:sp>
        <p:nvSpPr>
          <p:cNvPr id="141" name="TextBox 141"/>
          <p:cNvSpPr txBox="1"/>
          <p:nvPr/>
        </p:nvSpPr>
        <p:spPr>
          <a:xfrm>
            <a:off x="-1751192" y="6881819"/>
            <a:ext cx="9903691" cy="237648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359"/>
              </a:lnSpc>
            </a:pPr>
            <a:endParaRPr>
              <a:latin typeface="Gautami" panose="020B0502040204020203" pitchFamily="34" charset="0"/>
              <a:cs typeface="Gautami" panose="020B0502040204020203" pitchFamily="34" charset="0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252344" y="3956098"/>
            <a:ext cx="9144000" cy="55092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Hospital Dashboard:</a:t>
            </a:r>
            <a:endParaRPr lang="en-US" sz="3200" b="0" i="0" dirty="0">
              <a:effectLst/>
              <a:latin typeface="Gautami" panose="020B0502040204020203" pitchFamily="34" charset="0"/>
              <a:cs typeface="Gautami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Manage patient records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Collaborate with other hospitals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Access predictive analytics for resource planning</a:t>
            </a:r>
            <a:br>
              <a:rPr lang="en-US" sz="32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</a:br>
            <a:endParaRPr lang="en-US" sz="3200" b="0" i="0" dirty="0">
              <a:solidFill>
                <a:schemeClr val="bg1"/>
              </a:solidFill>
              <a:effectLst/>
              <a:latin typeface="Gautami" panose="020B0502040204020203" pitchFamily="34" charset="0"/>
              <a:cs typeface="Gautami" panose="020B050204020402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Hospital Admin Dashboard:</a:t>
            </a:r>
            <a:endParaRPr lang="en-US" sz="3200" b="0" i="0" dirty="0">
              <a:effectLst/>
              <a:latin typeface="Gautami" panose="020B0502040204020203" pitchFamily="34" charset="0"/>
              <a:cs typeface="Gautami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Monitor hospital activities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Ensure data security and compliance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chemeClr val="bg1"/>
                </a:solidFill>
                <a:effectLst/>
                <a:latin typeface="Gautami" panose="020B0502040204020203" pitchFamily="34" charset="0"/>
                <a:cs typeface="Gautami" panose="020B0502040204020203" pitchFamily="34" charset="0"/>
              </a:rPr>
              <a:t>Facilitate seamless communication between departments</a:t>
            </a:r>
          </a:p>
        </p:txBody>
      </p:sp>
    </p:spTree>
    <p:extLst>
      <p:ext uri="{BB962C8B-B14F-4D97-AF65-F5344CB8AC3E}">
        <p14:creationId xmlns:p14="http://schemas.microsoft.com/office/powerpoint/2010/main" val="4164774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3511203" y="8639421"/>
            <a:ext cx="3784985" cy="1992963"/>
            <a:chOff x="0" y="0"/>
            <a:chExt cx="5046647" cy="2657283"/>
          </a:xfrm>
        </p:grpSpPr>
        <p:grpSp>
          <p:nvGrpSpPr>
            <p:cNvPr id="3" name="Group 3"/>
            <p:cNvGrpSpPr/>
            <p:nvPr/>
          </p:nvGrpSpPr>
          <p:grpSpPr>
            <a:xfrm>
              <a:off x="2966711" y="932663"/>
              <a:ext cx="487818" cy="487818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3805624" y="1115355"/>
              <a:ext cx="487818" cy="48781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132229" y="1908298"/>
              <a:ext cx="487818" cy="487818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6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2601327" y="121475"/>
              <a:ext cx="487818" cy="487818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19608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748125" y="609293"/>
              <a:ext cx="487818" cy="487818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869600" y="2152207"/>
              <a:ext cx="487818" cy="487818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76137" y="365384"/>
              <a:ext cx="487818" cy="487818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131626" y="1664389"/>
              <a:ext cx="487818" cy="487818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91522" y="2169466"/>
              <a:ext cx="487818" cy="487818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2845236" y="2149298"/>
              <a:ext cx="365384" cy="365384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681263" y="1420481"/>
              <a:ext cx="365384" cy="365384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2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113509" y="1341020"/>
              <a:ext cx="365384" cy="365384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66242" y="975635"/>
              <a:ext cx="365384" cy="365384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6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3766844" y="0"/>
              <a:ext cx="365384" cy="365384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0" y="1420481"/>
              <a:ext cx="487818" cy="487818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</p:grpSp>
      <p:sp>
        <p:nvSpPr>
          <p:cNvPr id="48" name="Freeform 48"/>
          <p:cNvSpPr/>
          <p:nvPr/>
        </p:nvSpPr>
        <p:spPr>
          <a:xfrm rot="-2792988" flipH="1" flipV="1">
            <a:off x="-16669146" y="-2080237"/>
            <a:ext cx="29040147" cy="14447473"/>
          </a:xfrm>
          <a:custGeom>
            <a:avLst/>
            <a:gdLst/>
            <a:ahLst/>
            <a:cxnLst/>
            <a:rect l="l" t="t" r="r" b="b"/>
            <a:pathLst>
              <a:path w="29040147" h="14447473">
                <a:moveTo>
                  <a:pt x="29040146" y="14447474"/>
                </a:moveTo>
                <a:lnTo>
                  <a:pt x="0" y="14447474"/>
                </a:lnTo>
                <a:lnTo>
                  <a:pt x="0" y="0"/>
                </a:lnTo>
                <a:lnTo>
                  <a:pt x="29040146" y="0"/>
                </a:lnTo>
                <a:lnTo>
                  <a:pt x="29040146" y="144474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Gautami" panose="020B0502040204020203" pitchFamily="34" charset="0"/>
              <a:cs typeface="Gautami" panose="020B0502040204020203" pitchFamily="34" charset="0"/>
            </a:endParaRPr>
          </a:p>
        </p:txBody>
      </p:sp>
      <p:grpSp>
        <p:nvGrpSpPr>
          <p:cNvPr id="49" name="Group 49"/>
          <p:cNvGrpSpPr/>
          <p:nvPr/>
        </p:nvGrpSpPr>
        <p:grpSpPr>
          <a:xfrm rot="-5400000">
            <a:off x="-2651115" y="3970443"/>
            <a:ext cx="6008279" cy="3103423"/>
            <a:chOff x="0" y="0"/>
            <a:chExt cx="8011039" cy="4137897"/>
          </a:xfrm>
        </p:grpSpPr>
        <p:grpSp>
          <p:nvGrpSpPr>
            <p:cNvPr id="50" name="Group 50"/>
            <p:cNvGrpSpPr/>
            <p:nvPr/>
          </p:nvGrpSpPr>
          <p:grpSpPr>
            <a:xfrm rot="-10800000">
              <a:off x="2516855" y="2245873"/>
              <a:ext cx="454219" cy="454219"/>
              <a:chOff x="0" y="0"/>
              <a:chExt cx="812800" cy="8128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 rot="-10800000">
              <a:off x="1190684" y="1640136"/>
              <a:ext cx="771153" cy="771153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-10800000">
              <a:off x="419531" y="606050"/>
              <a:ext cx="551737" cy="551737"/>
              <a:chOff x="0" y="0"/>
              <a:chExt cx="812800" cy="812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6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-10800000">
              <a:off x="3094463" y="3211283"/>
              <a:ext cx="674380" cy="674380"/>
              <a:chOff x="0" y="0"/>
              <a:chExt cx="812800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19608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-10800000">
              <a:off x="4583286" y="2472983"/>
              <a:ext cx="944219" cy="944219"/>
              <a:chOff x="0" y="0"/>
              <a:chExt cx="812800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 rot="-10800000">
              <a:off x="3865615" y="136965"/>
              <a:ext cx="607963" cy="607963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 rot="-10800000">
              <a:off x="6486193" y="3374989"/>
              <a:ext cx="510674" cy="510674"/>
              <a:chOff x="0" y="0"/>
              <a:chExt cx="812800" cy="8128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 rot="-10800000">
              <a:off x="230200" y="3007985"/>
              <a:ext cx="406596" cy="406596"/>
              <a:chOff x="0" y="0"/>
              <a:chExt cx="812800" cy="8128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 rot="-10800000">
              <a:off x="5141929" y="964999"/>
              <a:ext cx="385576" cy="385576"/>
              <a:chOff x="0" y="0"/>
              <a:chExt cx="812800" cy="81280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 rot="-10800000">
              <a:off x="6337572" y="0"/>
              <a:ext cx="606050" cy="606050"/>
              <a:chOff x="0" y="0"/>
              <a:chExt cx="812800" cy="8128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 rot="-10800000">
              <a:off x="2704306" y="772211"/>
              <a:ext cx="266769" cy="266769"/>
              <a:chOff x="0" y="0"/>
              <a:chExt cx="812800" cy="81280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 rot="-10800000">
              <a:off x="0" y="1698740"/>
              <a:ext cx="230200" cy="230200"/>
              <a:chOff x="0" y="0"/>
              <a:chExt cx="812800" cy="8128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2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 rot="-10800000">
              <a:off x="3781716" y="1491531"/>
              <a:ext cx="414417" cy="414417"/>
              <a:chOff x="0" y="0"/>
              <a:chExt cx="812800" cy="81280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 rot="-10800000">
              <a:off x="6188950" y="2334918"/>
              <a:ext cx="297243" cy="297243"/>
              <a:chOff x="0" y="0"/>
              <a:chExt cx="812800" cy="81280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6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 rot="-10800000">
              <a:off x="1576260" y="3779705"/>
              <a:ext cx="358192" cy="358192"/>
              <a:chOff x="0" y="0"/>
              <a:chExt cx="812800" cy="812800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 rot="-10800000">
              <a:off x="7732080" y="382258"/>
              <a:ext cx="278959" cy="278959"/>
              <a:chOff x="0" y="0"/>
              <a:chExt cx="812800" cy="812800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 rot="-10800000">
              <a:off x="6865384" y="1350575"/>
              <a:ext cx="526532" cy="526532"/>
              <a:chOff x="0" y="0"/>
              <a:chExt cx="812800" cy="812800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</p:grpSp>
      <p:sp>
        <p:nvSpPr>
          <p:cNvPr id="101" name="Freeform 101"/>
          <p:cNvSpPr/>
          <p:nvPr/>
        </p:nvSpPr>
        <p:spPr>
          <a:xfrm>
            <a:off x="831046" y="0"/>
            <a:ext cx="6637813" cy="10287000"/>
          </a:xfrm>
          <a:custGeom>
            <a:avLst/>
            <a:gdLst/>
            <a:ahLst/>
            <a:cxnLst/>
            <a:rect l="l" t="t" r="r" b="b"/>
            <a:pathLst>
              <a:path w="6637813" h="10287000">
                <a:moveTo>
                  <a:pt x="0" y="0"/>
                </a:moveTo>
                <a:lnTo>
                  <a:pt x="6637813" y="0"/>
                </a:lnTo>
                <a:lnTo>
                  <a:pt x="663781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52"/>
            </a:stretch>
          </a:blipFill>
        </p:spPr>
        <p:txBody>
          <a:bodyPr/>
          <a:lstStyle/>
          <a:p>
            <a:endParaRPr lang="en-US">
              <a:latin typeface="Gautami" panose="020B0502040204020203" pitchFamily="34" charset="0"/>
              <a:cs typeface="Gautami" panose="020B0502040204020203" pitchFamily="34" charset="0"/>
            </a:endParaRPr>
          </a:p>
        </p:txBody>
      </p:sp>
      <p:grpSp>
        <p:nvGrpSpPr>
          <p:cNvPr id="102" name="Group 102"/>
          <p:cNvGrpSpPr/>
          <p:nvPr/>
        </p:nvGrpSpPr>
        <p:grpSpPr>
          <a:xfrm>
            <a:off x="8013719" y="5385309"/>
            <a:ext cx="8813780" cy="4009191"/>
            <a:chOff x="0" y="2421457"/>
            <a:chExt cx="11751707" cy="5345588"/>
          </a:xfrm>
        </p:grpSpPr>
        <p:sp>
          <p:nvSpPr>
            <p:cNvPr id="104" name="TextBox 104"/>
            <p:cNvSpPr txBox="1"/>
            <p:nvPr/>
          </p:nvSpPr>
          <p:spPr>
            <a:xfrm>
              <a:off x="0" y="2421457"/>
              <a:ext cx="11751707" cy="7352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20"/>
                </a:lnSpc>
                <a:spcBef>
                  <a:spcPct val="0"/>
                </a:spcBef>
              </a:pPr>
              <a:endParaRPr lang="en-US" sz="3600" u="none" strike="noStrike" dirty="0">
                <a:solidFill>
                  <a:srgbClr val="FFFFFF"/>
                </a:solidFill>
                <a:latin typeface="Gautami" panose="020B0502040204020203" pitchFamily="34" charset="0"/>
                <a:cs typeface="Gautami" panose="020B0502040204020203" pitchFamily="34" charset="0"/>
              </a:endParaRP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0" y="3745432"/>
              <a:ext cx="11751707" cy="40216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00" b="1" i="0" dirty="0">
                  <a:solidFill>
                    <a:schemeClr val="bg1"/>
                  </a:solidFill>
                  <a:effectLst/>
                  <a:latin typeface="Gautami" panose="020B0502040204020203" pitchFamily="34" charset="0"/>
                  <a:cs typeface="Gautami" panose="020B0502040204020203" pitchFamily="34" charset="0"/>
                </a:rPr>
                <a:t>Conclusion: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2800" b="0" i="0" dirty="0">
                  <a:solidFill>
                    <a:schemeClr val="bg1"/>
                  </a:solidFill>
                  <a:effectLst/>
                  <a:latin typeface="Gautami" panose="020B0502040204020203" pitchFamily="34" charset="0"/>
                  <a:cs typeface="Gautami" panose="020B0502040204020203" pitchFamily="34" charset="0"/>
                </a:rPr>
                <a:t>Lifeline aims to transform the healthcare landscape by providing a unified platform for efficient communication, streamlined data management, and predictive analytics. With its user-friendly dashboards and innovative features, Lifeline is poised to revolutionize healthcare delivery, ensuring a healthier and connected world.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 rot="-5400000">
            <a:off x="15045416" y="-1170921"/>
            <a:ext cx="6008279" cy="3103423"/>
            <a:chOff x="0" y="0"/>
            <a:chExt cx="8011039" cy="4137897"/>
          </a:xfrm>
        </p:grpSpPr>
        <p:grpSp>
          <p:nvGrpSpPr>
            <p:cNvPr id="107" name="Group 107"/>
            <p:cNvGrpSpPr/>
            <p:nvPr/>
          </p:nvGrpSpPr>
          <p:grpSpPr>
            <a:xfrm rot="-10800000">
              <a:off x="2516855" y="2245873"/>
              <a:ext cx="454219" cy="454219"/>
              <a:chOff x="0" y="0"/>
              <a:chExt cx="812800" cy="812800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 rot="-10800000">
              <a:off x="1190684" y="1640136"/>
              <a:ext cx="771153" cy="771153"/>
              <a:chOff x="0" y="0"/>
              <a:chExt cx="812800" cy="812800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2" name="TextBox 112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3" name="Group 113"/>
            <p:cNvGrpSpPr/>
            <p:nvPr/>
          </p:nvGrpSpPr>
          <p:grpSpPr>
            <a:xfrm rot="-10800000">
              <a:off x="419531" y="606050"/>
              <a:ext cx="551737" cy="551737"/>
              <a:chOff x="0" y="0"/>
              <a:chExt cx="812800" cy="812800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6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 rot="-10800000">
              <a:off x="3094463" y="3211283"/>
              <a:ext cx="674380" cy="674380"/>
              <a:chOff x="0" y="0"/>
              <a:chExt cx="812800" cy="812800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19608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 rot="-10800000">
              <a:off x="4583286" y="2472983"/>
              <a:ext cx="944219" cy="944219"/>
              <a:chOff x="0" y="0"/>
              <a:chExt cx="812800" cy="812800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 rot="-10800000">
              <a:off x="3865615" y="136965"/>
              <a:ext cx="607963" cy="607963"/>
              <a:chOff x="0" y="0"/>
              <a:chExt cx="812800" cy="812800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24" name="TextBox 124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25" name="Group 125"/>
            <p:cNvGrpSpPr/>
            <p:nvPr/>
          </p:nvGrpSpPr>
          <p:grpSpPr>
            <a:xfrm rot="-10800000">
              <a:off x="6486193" y="3374989"/>
              <a:ext cx="510674" cy="510674"/>
              <a:chOff x="0" y="0"/>
              <a:chExt cx="812800" cy="812800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27" name="TextBox 12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28" name="Group 128"/>
            <p:cNvGrpSpPr/>
            <p:nvPr/>
          </p:nvGrpSpPr>
          <p:grpSpPr>
            <a:xfrm rot="-10800000">
              <a:off x="230200" y="3007985"/>
              <a:ext cx="406596" cy="406596"/>
              <a:chOff x="0" y="0"/>
              <a:chExt cx="812800" cy="812800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30" name="TextBox 130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31" name="Group 131"/>
            <p:cNvGrpSpPr/>
            <p:nvPr/>
          </p:nvGrpSpPr>
          <p:grpSpPr>
            <a:xfrm rot="-10800000">
              <a:off x="5141929" y="964999"/>
              <a:ext cx="385576" cy="385576"/>
              <a:chOff x="0" y="0"/>
              <a:chExt cx="812800" cy="812800"/>
            </a:xfrm>
          </p:grpSpPr>
          <p:sp>
            <p:nvSpPr>
              <p:cNvPr id="132" name="Freeform 1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33" name="TextBox 133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34" name="Group 134"/>
            <p:cNvGrpSpPr/>
            <p:nvPr/>
          </p:nvGrpSpPr>
          <p:grpSpPr>
            <a:xfrm rot="-10800000">
              <a:off x="6337572" y="0"/>
              <a:ext cx="606050" cy="606050"/>
              <a:chOff x="0" y="0"/>
              <a:chExt cx="812800" cy="812800"/>
            </a:xfrm>
          </p:grpSpPr>
          <p:sp>
            <p:nvSpPr>
              <p:cNvPr id="135" name="Freeform 1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6CE5E8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36" name="TextBox 13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37" name="Group 137"/>
            <p:cNvGrpSpPr/>
            <p:nvPr/>
          </p:nvGrpSpPr>
          <p:grpSpPr>
            <a:xfrm rot="-10800000">
              <a:off x="2704306" y="772211"/>
              <a:ext cx="266769" cy="266769"/>
              <a:chOff x="0" y="0"/>
              <a:chExt cx="812800" cy="812800"/>
            </a:xfrm>
          </p:grpSpPr>
          <p:sp>
            <p:nvSpPr>
              <p:cNvPr id="138" name="Freeform 1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39" name="TextBox 13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40" name="Group 140"/>
            <p:cNvGrpSpPr/>
            <p:nvPr/>
          </p:nvGrpSpPr>
          <p:grpSpPr>
            <a:xfrm rot="-10800000">
              <a:off x="0" y="1698740"/>
              <a:ext cx="230200" cy="230200"/>
              <a:chOff x="0" y="0"/>
              <a:chExt cx="812800" cy="812800"/>
            </a:xfrm>
          </p:grpSpPr>
          <p:sp>
            <p:nvSpPr>
              <p:cNvPr id="141" name="Freeform 1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2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42" name="TextBox 14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43" name="Group 143"/>
            <p:cNvGrpSpPr/>
            <p:nvPr/>
          </p:nvGrpSpPr>
          <p:grpSpPr>
            <a:xfrm rot="-10800000">
              <a:off x="3781716" y="1491531"/>
              <a:ext cx="414417" cy="414417"/>
              <a:chOff x="0" y="0"/>
              <a:chExt cx="812800" cy="812800"/>
            </a:xfrm>
          </p:grpSpPr>
          <p:sp>
            <p:nvSpPr>
              <p:cNvPr id="144" name="Freeform 1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45" name="TextBox 14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46" name="Group 146"/>
            <p:cNvGrpSpPr/>
            <p:nvPr/>
          </p:nvGrpSpPr>
          <p:grpSpPr>
            <a:xfrm rot="-10800000">
              <a:off x="6188950" y="2334918"/>
              <a:ext cx="297243" cy="297243"/>
              <a:chOff x="0" y="0"/>
              <a:chExt cx="812800" cy="812800"/>
            </a:xfrm>
          </p:grpSpPr>
          <p:sp>
            <p:nvSpPr>
              <p:cNvPr id="147" name="Freeform 14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6CE5E8">
                  <a:alpha val="6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49" name="Group 149"/>
            <p:cNvGrpSpPr/>
            <p:nvPr/>
          </p:nvGrpSpPr>
          <p:grpSpPr>
            <a:xfrm rot="-10800000">
              <a:off x="1576260" y="3779705"/>
              <a:ext cx="358192" cy="358192"/>
              <a:chOff x="0" y="0"/>
              <a:chExt cx="812800" cy="812800"/>
            </a:xfrm>
          </p:grpSpPr>
          <p:sp>
            <p:nvSpPr>
              <p:cNvPr id="150" name="Freeform 1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51" name="TextBox 15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52" name="Group 152"/>
            <p:cNvGrpSpPr/>
            <p:nvPr/>
          </p:nvGrpSpPr>
          <p:grpSpPr>
            <a:xfrm rot="-10800000">
              <a:off x="7732080" y="382258"/>
              <a:ext cx="278959" cy="278959"/>
              <a:chOff x="0" y="0"/>
              <a:chExt cx="812800" cy="812800"/>
            </a:xfrm>
          </p:grpSpPr>
          <p:sp>
            <p:nvSpPr>
              <p:cNvPr id="153" name="Freeform 15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5ECB86">
                  <a:alpha val="49804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54" name="TextBox 15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  <p:grpSp>
          <p:nvGrpSpPr>
            <p:cNvPr id="155" name="Group 155"/>
            <p:cNvGrpSpPr/>
            <p:nvPr/>
          </p:nvGrpSpPr>
          <p:grpSpPr>
            <a:xfrm rot="-10800000">
              <a:off x="6865384" y="1350575"/>
              <a:ext cx="526532" cy="526532"/>
              <a:chOff x="0" y="0"/>
              <a:chExt cx="812800" cy="812800"/>
            </a:xfrm>
          </p:grpSpPr>
          <p:sp>
            <p:nvSpPr>
              <p:cNvPr id="156" name="Freeform 1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5ECB86">
                  <a:alpha val="80000"/>
                </a:srgbClr>
              </a:solidFill>
            </p:spPr>
            <p:txBody>
              <a:bodyPr/>
              <a:lstStyle/>
              <a:p>
                <a:endParaRPr lang="en-US"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  <p:sp>
            <p:nvSpPr>
              <p:cNvPr id="157" name="TextBox 15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>
                  <a:latin typeface="Gautami" panose="020B0502040204020203" pitchFamily="34" charset="0"/>
                  <a:cs typeface="Gautami" panose="020B0502040204020203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09699">
                <a:alpha val="100000"/>
              </a:srgbClr>
            </a:gs>
            <a:gs pos="50000">
              <a:srgbClr val="113F57">
                <a:alpha val="100000"/>
              </a:srgbClr>
            </a:gs>
            <a:gs pos="100000">
              <a:srgbClr val="5ECB86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3635216"/>
            <a:ext cx="16230600" cy="2218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7280"/>
              </a:lnSpc>
              <a:spcBef>
                <a:spcPct val="0"/>
              </a:spcBef>
            </a:pPr>
            <a:r>
              <a:rPr lang="en-US" sz="14400" dirty="0">
                <a:solidFill>
                  <a:srgbClr val="FFFFFF"/>
                </a:solidFill>
                <a:latin typeface="Gautami" panose="020B0502040204020203" pitchFamily="34" charset="0"/>
                <a:cs typeface="Gautami" panose="020B0502040204020203" pitchFamily="34" charset="0"/>
              </a:rPr>
              <a:t>Future Plans?</a:t>
            </a:r>
          </a:p>
        </p:txBody>
      </p:sp>
      <p:sp>
        <p:nvSpPr>
          <p:cNvPr id="5" name="Freeform 5"/>
          <p:cNvSpPr/>
          <p:nvPr/>
        </p:nvSpPr>
        <p:spPr>
          <a:xfrm rot="-10800000">
            <a:off x="4533042" y="-8934536"/>
            <a:ext cx="25452516" cy="22366398"/>
          </a:xfrm>
          <a:custGeom>
            <a:avLst/>
            <a:gdLst/>
            <a:ahLst/>
            <a:cxnLst/>
            <a:rect l="l" t="t" r="r" b="b"/>
            <a:pathLst>
              <a:path w="25452516" h="22366398">
                <a:moveTo>
                  <a:pt x="0" y="0"/>
                </a:moveTo>
                <a:lnTo>
                  <a:pt x="25452516" y="0"/>
                </a:lnTo>
                <a:lnTo>
                  <a:pt x="25452516" y="22366399"/>
                </a:lnTo>
                <a:lnTo>
                  <a:pt x="0" y="223663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Gautami" panose="020B0502040204020203" pitchFamily="34" charset="0"/>
              <a:cs typeface="Gautami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382</Words>
  <Application>Microsoft Office PowerPoint</Application>
  <PresentationFormat>Custom</PresentationFormat>
  <Paragraphs>44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Gautami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Black, White, and Blue Minimal Corporate Non Profit Hospital Theme Presentation</dc:title>
  <dc:creator>glab</dc:creator>
  <cp:lastModifiedBy>Adnan Ali</cp:lastModifiedBy>
  <cp:revision>43</cp:revision>
  <dcterms:created xsi:type="dcterms:W3CDTF">2006-08-16T00:00:00Z</dcterms:created>
  <dcterms:modified xsi:type="dcterms:W3CDTF">2024-01-07T04:15:41Z</dcterms:modified>
  <dc:identifier>DAF3zIiYdD8</dc:identifier>
</cp:coreProperties>
</file>